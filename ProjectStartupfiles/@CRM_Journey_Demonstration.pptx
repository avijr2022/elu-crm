
<file path=[Content_Types].xml><?xml version="1.0" encoding="utf-8"?>
<Types xmlns="http://schemas.openxmlformats.org/package/2006/content-types">
  <Default Extension="png" ContentType="image/png"/>
  <Default Extension="web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4" r:id="rId2"/>
    <p:sldId id="285" r:id="rId3"/>
    <p:sldId id="287" r:id="rId4"/>
    <p:sldId id="286" r:id="rId5"/>
    <p:sldId id="288" r:id="rId6"/>
    <p:sldId id="279" r:id="rId7"/>
    <p:sldId id="275" r:id="rId8"/>
    <p:sldId id="276" r:id="rId9"/>
    <p:sldId id="277" r:id="rId10"/>
    <p:sldId id="281" r:id="rId11"/>
    <p:sldId id="278" r:id="rId12"/>
    <p:sldId id="268" r:id="rId13"/>
    <p:sldId id="280" r:id="rId14"/>
    <p:sldId id="273" r:id="rId15"/>
    <p:sldId id="266" r:id="rId16"/>
    <p:sldId id="269" r:id="rId17"/>
    <p:sldId id="267" r:id="rId18"/>
    <p:sldId id="270" r:id="rId19"/>
    <p:sldId id="272" r:id="rId20"/>
    <p:sldId id="263" r:id="rId21"/>
    <p:sldId id="261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75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uphoriainfotech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ebp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ebp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ebp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9615970" y="6254617"/>
            <a:ext cx="2530365" cy="429949"/>
            <a:chOff x="9199671" y="5912047"/>
            <a:chExt cx="2530365" cy="429949"/>
          </a:xfrm>
        </p:grpSpPr>
        <p:sp>
          <p:nvSpPr>
            <p:cNvPr id="4" name="Rectangle 1"/>
            <p:cNvSpPr>
              <a:spLocks noChangeArrowheads="1"/>
            </p:cNvSpPr>
            <p:nvPr/>
          </p:nvSpPr>
          <p:spPr bwMode="auto">
            <a:xfrm>
              <a:off x="9715981" y="6040801"/>
              <a:ext cx="2014055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700" b="1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poppins-extralight"/>
                  <a:cs typeface="Arial" panose="020B0604020202020204" pitchFamily="34" charset="0"/>
                </a:rPr>
                <a:t>Euphoria</a:t>
              </a:r>
              <a:r>
                <a:rPr kumimoji="0" lang="en-US" altLang="en-US" sz="1700" b="1" i="0" u="none" strike="noStrike" cap="none" normalizeH="0" baseline="0" dirty="0" smtClean="0">
                  <a:ln>
                    <a:noFill/>
                  </a:ln>
                  <a:solidFill>
                    <a:srgbClr val="181818"/>
                  </a:solidFill>
                  <a:effectLst/>
                  <a:latin typeface="poppins-extralight"/>
                  <a:cs typeface="Arial" panose="020B0604020202020204" pitchFamily="34" charset="0"/>
                </a:rPr>
                <a:t> </a:t>
              </a:r>
              <a:r>
                <a:rPr kumimoji="0" lang="en-US" altLang="en-US" sz="1700" b="1" i="0" u="none" strike="noStrike" cap="none" normalizeH="0" baseline="0" dirty="0" smtClean="0">
                  <a:ln>
                    <a:noFill/>
                  </a:ln>
                  <a:solidFill>
                    <a:srgbClr val="0B6AB3"/>
                  </a:solidFill>
                  <a:effectLst/>
                  <a:latin typeface="poppins-extralight"/>
                  <a:cs typeface="Arial" panose="020B0604020202020204" pitchFamily="34" charset="0"/>
                </a:rPr>
                <a:t>Infotech</a:t>
              </a:r>
              <a:endParaRPr kumimoji="0" lang="en-US" altLang="en-US" sz="7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" name="Picture 2" descr="https://static.wixstatic.com/media/47c9ca_ba23c39fd63243dca5c767a01408e500~mv2.png/v1/fill/w_61,h_63,al_c,q_85,usm_0.66_1.00_0.01,enc_avif,quality_auto/euphorialogo01.png">
              <a:hlinkClick r:id="rId3"/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9671" y="5912047"/>
              <a:ext cx="416299" cy="429949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03010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3729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612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52226" y="3023413"/>
            <a:ext cx="276323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 smtClean="0"/>
              <a:t>(Banking</a:t>
            </a:r>
            <a:r>
              <a:rPr lang="en-GB" sz="1200" dirty="0"/>
              <a:t>, Financial </a:t>
            </a:r>
            <a:r>
              <a:rPr lang="en-GB" sz="1200" dirty="0" smtClean="0"/>
              <a:t>Services &amp; Insurance)</a:t>
            </a:r>
            <a:endParaRPr lang="en-IN" sz="1200" dirty="0"/>
          </a:p>
        </p:txBody>
      </p:sp>
      <p:sp>
        <p:nvSpPr>
          <p:cNvPr id="4" name="Rectangle 3"/>
          <p:cNvSpPr/>
          <p:nvPr/>
        </p:nvSpPr>
        <p:spPr>
          <a:xfrm>
            <a:off x="3645041" y="2838747"/>
            <a:ext cx="7585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22.5%</a:t>
            </a:r>
          </a:p>
        </p:txBody>
      </p:sp>
      <p:sp>
        <p:nvSpPr>
          <p:cNvPr id="5" name="Rectangle 4"/>
          <p:cNvSpPr/>
          <p:nvPr/>
        </p:nvSpPr>
        <p:spPr>
          <a:xfrm>
            <a:off x="3887929" y="4258747"/>
            <a:ext cx="7585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/>
              <a:t>22.0%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59179" y="4801672"/>
            <a:ext cx="7585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19.5%</a:t>
            </a:r>
          </a:p>
        </p:txBody>
      </p:sp>
      <p:sp>
        <p:nvSpPr>
          <p:cNvPr id="7" name="Rectangle 6"/>
          <p:cNvSpPr/>
          <p:nvPr/>
        </p:nvSpPr>
        <p:spPr>
          <a:xfrm>
            <a:off x="1459054" y="4074081"/>
            <a:ext cx="7585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13.0%</a:t>
            </a:r>
          </a:p>
        </p:txBody>
      </p:sp>
      <p:sp>
        <p:nvSpPr>
          <p:cNvPr id="8" name="Rectangle 7"/>
          <p:cNvSpPr/>
          <p:nvPr/>
        </p:nvSpPr>
        <p:spPr>
          <a:xfrm>
            <a:off x="1459054" y="3208079"/>
            <a:ext cx="6479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smtClean="0"/>
              <a:t>9.5%</a:t>
            </a:r>
            <a:endParaRPr lang="en-IN" b="1" dirty="0"/>
          </a:p>
        </p:txBody>
      </p:sp>
      <p:sp>
        <p:nvSpPr>
          <p:cNvPr id="9" name="Rectangle 8"/>
          <p:cNvSpPr/>
          <p:nvPr/>
        </p:nvSpPr>
        <p:spPr>
          <a:xfrm>
            <a:off x="1893628" y="2284749"/>
            <a:ext cx="6479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9.0%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6198" y="1886841"/>
            <a:ext cx="59182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4.5%</a:t>
            </a:r>
          </a:p>
        </p:txBody>
      </p:sp>
    </p:spTree>
    <p:extLst>
      <p:ext uri="{BB962C8B-B14F-4D97-AF65-F5344CB8AC3E}">
        <p14:creationId xmlns:p14="http://schemas.microsoft.com/office/powerpoint/2010/main" val="820174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588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91476" y="2202775"/>
            <a:ext cx="215265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400" dirty="0" smtClean="0">
                <a:solidFill>
                  <a:srgbClr val="363636"/>
                </a:solidFill>
                <a:latin typeface="+mj-lt"/>
              </a:rPr>
              <a:t>Adobe</a:t>
            </a:r>
            <a:endParaRPr lang="en-IN" sz="1400" dirty="0">
              <a:solidFill>
                <a:srgbClr val="363636"/>
              </a:solidFill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 err="1">
                <a:solidFill>
                  <a:srgbClr val="363636"/>
                </a:solidFill>
                <a:latin typeface="+mj-lt"/>
              </a:rPr>
              <a:t>ClickUp</a:t>
            </a:r>
            <a:endParaRPr lang="en-IN" sz="1400" dirty="0">
              <a:solidFill>
                <a:srgbClr val="363636"/>
              </a:solidFill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363636"/>
                </a:solidFill>
                <a:latin typeface="+mj-lt"/>
              </a:rPr>
              <a:t>Copper CRM, Inc.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 err="1">
                <a:solidFill>
                  <a:srgbClr val="363636"/>
                </a:solidFill>
                <a:latin typeface="+mj-lt"/>
              </a:rPr>
              <a:t>Creatio</a:t>
            </a:r>
            <a:endParaRPr lang="en-IN" sz="1400" dirty="0">
              <a:solidFill>
                <a:srgbClr val="363636"/>
              </a:solidFill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 err="1">
                <a:solidFill>
                  <a:srgbClr val="363636"/>
                </a:solidFill>
                <a:latin typeface="+mj-lt"/>
              </a:rPr>
              <a:t>Freshworks</a:t>
            </a:r>
            <a:r>
              <a:rPr lang="en-IN" sz="1400" dirty="0">
                <a:solidFill>
                  <a:srgbClr val="363636"/>
                </a:solidFill>
                <a:latin typeface="+mj-lt"/>
              </a:rPr>
              <a:t> Inc.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363636"/>
                </a:solidFill>
                <a:latin typeface="+mj-lt"/>
              </a:rPr>
              <a:t>Insightly Inc.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363636"/>
                </a:solidFill>
                <a:latin typeface="+mj-lt"/>
              </a:rPr>
              <a:t>Microsoft Corporation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363636"/>
                </a:solidFill>
                <a:latin typeface="+mj-lt"/>
              </a:rPr>
              <a:t>monday.com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363636"/>
                </a:solidFill>
                <a:latin typeface="+mj-lt"/>
              </a:rPr>
              <a:t>Nimble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363636"/>
                </a:solidFill>
                <a:latin typeface="+mj-lt"/>
              </a:rPr>
              <a:t>Oracle Corporation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363636"/>
                </a:solidFill>
                <a:latin typeface="+mj-lt"/>
              </a:rPr>
              <a:t>Salesforce.com, Inc.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363636"/>
                </a:solidFill>
                <a:latin typeface="+mj-lt"/>
              </a:rPr>
              <a:t>SAP 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 err="1">
                <a:solidFill>
                  <a:srgbClr val="363636"/>
                </a:solidFill>
                <a:latin typeface="+mj-lt"/>
              </a:rPr>
              <a:t>SugarCRM</a:t>
            </a:r>
            <a:r>
              <a:rPr lang="en-IN" sz="1400" dirty="0">
                <a:solidFill>
                  <a:srgbClr val="363636"/>
                </a:solidFill>
                <a:latin typeface="+mj-lt"/>
              </a:rPr>
              <a:t> Inc.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 err="1">
                <a:solidFill>
                  <a:srgbClr val="363636"/>
                </a:solidFill>
                <a:latin typeface="+mj-lt"/>
              </a:rPr>
              <a:t>Zendesk</a:t>
            </a:r>
            <a:endParaRPr lang="en-IN" sz="1400" dirty="0">
              <a:solidFill>
                <a:srgbClr val="363636"/>
              </a:solidFill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 err="1">
                <a:solidFill>
                  <a:srgbClr val="363636"/>
                </a:solidFill>
                <a:latin typeface="+mj-lt"/>
              </a:rPr>
              <a:t>Zoho</a:t>
            </a:r>
            <a:r>
              <a:rPr lang="en-IN" sz="1400" dirty="0">
                <a:solidFill>
                  <a:srgbClr val="363636"/>
                </a:solidFill>
                <a:latin typeface="+mj-lt"/>
              </a:rPr>
              <a:t> Corporation </a:t>
            </a:r>
            <a:r>
              <a:rPr lang="en-IN" sz="1400" dirty="0" err="1">
                <a:solidFill>
                  <a:srgbClr val="363636"/>
                </a:solidFill>
                <a:latin typeface="+mj-lt"/>
              </a:rPr>
              <a:t>Pvt.</a:t>
            </a:r>
            <a:r>
              <a:rPr lang="en-IN" sz="1400" dirty="0">
                <a:solidFill>
                  <a:srgbClr val="363636"/>
                </a:solidFill>
                <a:latin typeface="+mj-lt"/>
              </a:rPr>
              <a:t> Ltd.</a:t>
            </a:r>
            <a:endParaRPr lang="en-IN" sz="1400" b="0" i="0" dirty="0">
              <a:solidFill>
                <a:srgbClr val="363636"/>
              </a:solidFill>
              <a:effectLst/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15710" y="386834"/>
            <a:ext cx="52481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351249"/>
                </a:solidFill>
              </a:rPr>
              <a:t>Key Customer Relationship Management Companies:</a:t>
            </a:r>
          </a:p>
        </p:txBody>
      </p:sp>
    </p:spTree>
    <p:extLst>
      <p:ext uri="{BB962C8B-B14F-4D97-AF65-F5344CB8AC3E}">
        <p14:creationId xmlns:p14="http://schemas.microsoft.com/office/powerpoint/2010/main" val="1905621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375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164592"/>
            <a:ext cx="11548872" cy="502920"/>
          </a:xfrm>
          <a:prstGeom prst="roundRect">
            <a:avLst/>
          </a:prstGeom>
          <a:solidFill>
            <a:srgbClr val="143669"/>
          </a:solidFill>
          <a:ln w="12700">
            <a:solidFill>
              <a:srgbClr val="143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 dirty="0">
                <a:solidFill>
                  <a:srgbClr val="FFFFFF"/>
                </a:solidFill>
                <a:latin typeface="Aptos"/>
              </a:rPr>
              <a:t>CRM Platform </a:t>
            </a:r>
            <a:r>
              <a:rPr sz="2300" b="1" dirty="0" smtClean="0">
                <a:solidFill>
                  <a:srgbClr val="FFFFFF"/>
                </a:solidFill>
                <a:latin typeface="Aptos"/>
              </a:rPr>
              <a:t>–</a:t>
            </a:r>
            <a:r>
              <a:rPr lang="en-GB" sz="2300" b="1" dirty="0" smtClean="0">
                <a:solidFill>
                  <a:srgbClr val="FFFFFF"/>
                </a:solidFill>
                <a:latin typeface="Aptos"/>
              </a:rPr>
              <a:t> </a:t>
            </a:r>
            <a:r>
              <a:rPr sz="2300" b="1" dirty="0" smtClean="0">
                <a:solidFill>
                  <a:srgbClr val="FFFFFF"/>
                </a:solidFill>
                <a:latin typeface="Aptos"/>
              </a:rPr>
              <a:t>Feature </a:t>
            </a:r>
            <a:r>
              <a:rPr sz="2300" b="1" dirty="0">
                <a:solidFill>
                  <a:srgbClr val="FFFFFF"/>
                </a:solidFill>
                <a:latin typeface="Aptos"/>
              </a:rPr>
              <a:t>Architecture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2926080" y="1016322"/>
            <a:ext cx="6629399" cy="347472"/>
            <a:chOff x="2926080" y="1051560"/>
            <a:chExt cx="6629399" cy="347472"/>
          </a:xfrm>
        </p:grpSpPr>
        <p:sp>
          <p:nvSpPr>
            <p:cNvPr id="4" name="Rounded Rectangle 3"/>
            <p:cNvSpPr/>
            <p:nvPr/>
          </p:nvSpPr>
          <p:spPr>
            <a:xfrm>
              <a:off x="2926080" y="1051560"/>
              <a:ext cx="1417320" cy="34747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69B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000" b="1">
                  <a:solidFill>
                    <a:schemeClr val="tx1"/>
                  </a:solidFill>
                  <a:latin typeface="Aptos"/>
                </a:rPr>
                <a:t>Domain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311283" y="1086795"/>
              <a:ext cx="338555" cy="27699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200" b="1" dirty="0">
                  <a:latin typeface="Aptos"/>
                </a:rPr>
                <a:t>→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663440" y="1051560"/>
              <a:ext cx="1417320" cy="34747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882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000" b="1">
                  <a:solidFill>
                    <a:schemeClr val="tx1"/>
                  </a:solidFill>
                  <a:latin typeface="Aptos"/>
                </a:rPr>
                <a:t>Module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048642" y="1086795"/>
              <a:ext cx="338555" cy="27699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200" b="1">
                  <a:latin typeface="Aptos"/>
                </a:rPr>
                <a:t>→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400800" y="1051560"/>
              <a:ext cx="1417320" cy="34747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69419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000" b="1">
                  <a:solidFill>
                    <a:schemeClr val="tx1"/>
                  </a:solidFill>
                  <a:latin typeface="Aptos"/>
                </a:rPr>
                <a:t>Sub Module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786003" y="1086795"/>
              <a:ext cx="338555" cy="27699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/>
              <a:r>
                <a:rPr sz="1200" b="1">
                  <a:latin typeface="Aptos"/>
                </a:rPr>
                <a:t>→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138159" y="1051560"/>
              <a:ext cx="1417320" cy="34747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B781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000" b="1">
                  <a:solidFill>
                    <a:schemeClr val="tx1"/>
                  </a:solidFill>
                  <a:latin typeface="Aptos"/>
                </a:rPr>
                <a:t>Feature</a:t>
              </a:r>
            </a:p>
          </p:txBody>
        </p:sp>
      </p:grpSp>
      <p:sp>
        <p:nvSpPr>
          <p:cNvPr id="11" name="Rounded Rectangle 10"/>
          <p:cNvSpPr/>
          <p:nvPr/>
        </p:nvSpPr>
        <p:spPr>
          <a:xfrm>
            <a:off x="960120" y="1691640"/>
            <a:ext cx="2331720" cy="502920"/>
          </a:xfrm>
          <a:prstGeom prst="roundRect">
            <a:avLst/>
          </a:prstGeom>
          <a:solidFill>
            <a:srgbClr val="1F69BE"/>
          </a:solidFill>
          <a:ln w="12700">
            <a:solidFill>
              <a:srgbClr val="1F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PLATFORM FOUNDATION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1691640"/>
            <a:ext cx="7635240" cy="50292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1F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 dirty="0">
                <a:solidFill>
                  <a:srgbClr val="143669"/>
                </a:solidFill>
                <a:latin typeface="Aptos"/>
              </a:rPr>
              <a:t>Tenant • Edition • Subscription • Organization • Users • RBAC • Audit • Settings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26480" y="2194560"/>
            <a:ext cx="0" cy="210312"/>
          </a:xfrm>
          <a:prstGeom prst="line">
            <a:avLst/>
          </a:prstGeom>
          <a:ln w="1524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60120" y="2560320"/>
            <a:ext cx="2331720" cy="502920"/>
          </a:xfrm>
          <a:prstGeom prst="roundRect">
            <a:avLst/>
          </a:prstGeom>
          <a:solidFill>
            <a:srgbClr val="288246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BUSINESS APPLICATIONS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2560320"/>
            <a:ext cx="7635240" cy="50292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43669"/>
                </a:solidFill>
                <a:latin typeface="Aptos"/>
              </a:rPr>
              <a:t>CRM • Sales • Project Management • Finance • Service Management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26480" y="3063239"/>
            <a:ext cx="0" cy="210313"/>
          </a:xfrm>
          <a:prstGeom prst="line">
            <a:avLst/>
          </a:prstGeom>
          <a:ln w="1524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60120" y="3429000"/>
            <a:ext cx="2331720" cy="502920"/>
          </a:xfrm>
          <a:prstGeom prst="roundRect">
            <a:avLst/>
          </a:prstGeom>
          <a:solidFill>
            <a:srgbClr val="69419B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CORE PLATFORM SERVICES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3429000"/>
            <a:ext cx="7635240" cy="50292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43669"/>
                </a:solidFill>
                <a:latin typeface="Aptos"/>
              </a:rPr>
              <a:t>Workflow • Rules • Notifications • Reporting • Documents • AI • Audit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26480" y="3931920"/>
            <a:ext cx="0" cy="210312"/>
          </a:xfrm>
          <a:prstGeom prst="line">
            <a:avLst/>
          </a:prstGeom>
          <a:ln w="1524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60120" y="4297680"/>
            <a:ext cx="2331720" cy="502920"/>
          </a:xfrm>
          <a:prstGeom prst="roundRect">
            <a:avLst/>
          </a:prstGeom>
          <a:solidFill>
            <a:srgbClr val="EB7819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INTEGRATION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0440" y="4297680"/>
            <a:ext cx="7635240" cy="50292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43669"/>
                </a:solidFill>
                <a:latin typeface="Aptos"/>
              </a:rPr>
              <a:t>REST API • Webhooks • OAuth • Connectors • Enterprise Integration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26480" y="4800600"/>
            <a:ext cx="0" cy="210312"/>
          </a:xfrm>
          <a:prstGeom prst="line">
            <a:avLst/>
          </a:prstGeom>
          <a:ln w="1524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60120" y="5166360"/>
            <a:ext cx="2331720" cy="502920"/>
          </a:xfrm>
          <a:prstGeom prst="roundRect">
            <a:avLst/>
          </a:prstGeom>
          <a:solidFill>
            <a:srgbClr val="143669"/>
          </a:solidFill>
          <a:ln w="12700">
            <a:solidFill>
              <a:srgbClr val="143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DATA &amp; INFRASTRUCTURE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20440" y="5166360"/>
            <a:ext cx="7635240" cy="50292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143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43669"/>
                </a:solidFill>
                <a:latin typeface="Aptos"/>
              </a:rPr>
              <a:t>PostgreSQL • API • Storage • Cache • Events • External Systems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6080760"/>
            <a:ext cx="10149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43669"/>
                </a:solidFill>
                <a:latin typeface="Aptos"/>
              </a:rPr>
              <a:t>Design principle: Foundation first → Business domains → Cross-cutting services → Integration → Data/Infrastructure</a:t>
            </a:r>
          </a:p>
        </p:txBody>
      </p:sp>
    </p:spTree>
    <p:extLst>
      <p:ext uri="{BB962C8B-B14F-4D97-AF65-F5344CB8AC3E}">
        <p14:creationId xmlns:p14="http://schemas.microsoft.com/office/powerpoint/2010/main" val="1307888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164592"/>
            <a:ext cx="11548872" cy="502920"/>
          </a:xfrm>
          <a:prstGeom prst="roundRect">
            <a:avLst/>
          </a:prstGeom>
          <a:solidFill>
            <a:srgbClr val="143669"/>
          </a:solidFill>
          <a:ln w="12700">
            <a:solidFill>
              <a:srgbClr val="143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 dirty="0">
                <a:solidFill>
                  <a:srgbClr val="FFFFFF"/>
                </a:solidFill>
                <a:latin typeface="Aptos"/>
              </a:rPr>
              <a:t>Platform </a:t>
            </a:r>
            <a:r>
              <a:rPr sz="2300" b="1" dirty="0" smtClean="0">
                <a:solidFill>
                  <a:srgbClr val="FFFFFF"/>
                </a:solidFill>
                <a:latin typeface="Aptos"/>
              </a:rPr>
              <a:t>Foundation</a:t>
            </a:r>
            <a:endParaRPr sz="23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11548872" cy="5394960"/>
          </a:xfrm>
          <a:prstGeom prst="rect">
            <a:avLst/>
          </a:prstGeom>
          <a:solidFill>
            <a:srgbClr val="FFFFFF"/>
          </a:solidFill>
          <a:ln w="15240">
            <a:solidFill>
              <a:srgbClr val="1F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47472" y="1078992"/>
            <a:ext cx="11494008" cy="411480"/>
          </a:xfrm>
          <a:prstGeom prst="roundRect">
            <a:avLst/>
          </a:prstGeom>
          <a:solidFill>
            <a:srgbClr val="1F69BE"/>
          </a:solidFill>
          <a:ln w="12700">
            <a:solidFill>
              <a:srgbClr val="1F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1. Platform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4" y="1563624"/>
            <a:ext cx="3794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288246"/>
                </a:solidFill>
                <a:latin typeface="Aptos"/>
              </a:rPr>
              <a:t>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9664" y="1563624"/>
            <a:ext cx="3794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69419B"/>
                </a:solidFill>
                <a:latin typeface="Aptos"/>
              </a:rPr>
              <a:t>Sub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64424" y="1563624"/>
            <a:ext cx="3794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EB7819"/>
                </a:solidFill>
                <a:latin typeface="Aptos"/>
              </a:rPr>
              <a:t>Feature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59" y="1837943"/>
            <a:ext cx="3767328" cy="360772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Tenant Management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837943"/>
            <a:ext cx="3767328" cy="360772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Tenant Profile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837943"/>
            <a:ext cx="3767328" cy="360772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Tenant Registration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33088" y="2018330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927848" y="2018330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65759" y="2253580"/>
            <a:ext cx="3767328" cy="360772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Edition Management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2253580"/>
            <a:ext cx="3767328" cy="360772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Product Editions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2253580"/>
            <a:ext cx="3767328" cy="360772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Edition Definition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33088" y="2433966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927848" y="2433966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65759" y="2669216"/>
            <a:ext cx="3767328" cy="360772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Subscription Management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2669216"/>
            <a:ext cx="3767328" cy="360772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Subscription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0" y="2669216"/>
            <a:ext cx="3767328" cy="360772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Subscription Lifecycle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133088" y="2849602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927848" y="2849602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65759" y="3084853"/>
            <a:ext cx="3767328" cy="360772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Organization Management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3084853"/>
            <a:ext cx="3767328" cy="360772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Organization Structure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80" y="3084853"/>
            <a:ext cx="3767328" cy="360772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Organization Profile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133088" y="3265239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927848" y="3265239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65759" y="3500489"/>
            <a:ext cx="3767328" cy="360772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Branch Management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60520" y="3500489"/>
            <a:ext cx="3767328" cy="360772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Branch Structure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80" y="3500489"/>
            <a:ext cx="3767328" cy="360772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Branch Profile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133088" y="3680875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927848" y="3680875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65759" y="3916125"/>
            <a:ext cx="3767328" cy="360772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Department Management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60520" y="3916125"/>
            <a:ext cx="3767328" cy="360772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Department Structure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80" y="3916125"/>
            <a:ext cx="3767328" cy="360772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Department Profile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133088" y="4096511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927848" y="4096511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365759" y="4331762"/>
            <a:ext cx="3767328" cy="360772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Business Unit Management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60520" y="4331762"/>
            <a:ext cx="3767328" cy="360772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Business Unit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55280" y="4331762"/>
            <a:ext cx="3767328" cy="360772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Business Unit Profile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133088" y="4512148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927848" y="4512148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365759" y="4747398"/>
            <a:ext cx="3767328" cy="360772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User &amp; Identity Management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60520" y="4747398"/>
            <a:ext cx="3767328" cy="360772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User Account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55280" y="4747398"/>
            <a:ext cx="3767328" cy="360772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User Registration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133088" y="4927784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927848" y="4927784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365759" y="5163034"/>
            <a:ext cx="3767328" cy="360772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Roles &amp; Permissions (RBAC)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60520" y="5163034"/>
            <a:ext cx="3767328" cy="360772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Role Management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55280" y="5163034"/>
            <a:ext cx="3767328" cy="360772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Role &amp; Permission Assignment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4133088" y="5343421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927848" y="5343421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65759" y="5578671"/>
            <a:ext cx="3767328" cy="360772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Audit &amp; Compliance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160520" y="5578671"/>
            <a:ext cx="3767328" cy="360772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Audit Trail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955280" y="5578671"/>
            <a:ext cx="3767328" cy="360772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Activity Logging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133088" y="5759057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927848" y="5759057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365759" y="5994307"/>
            <a:ext cx="3767328" cy="360772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System Configuration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160520" y="5994307"/>
            <a:ext cx="3767328" cy="360772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Tenant Settings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955280" y="5994307"/>
            <a:ext cx="3767328" cy="360772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Business Preferences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4133088" y="6174693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927848" y="6174693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6073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164592"/>
            <a:ext cx="11548872" cy="502920"/>
          </a:xfrm>
          <a:prstGeom prst="roundRect">
            <a:avLst/>
          </a:prstGeom>
          <a:solidFill>
            <a:srgbClr val="143669"/>
          </a:solidFill>
          <a:ln w="12700">
            <a:solidFill>
              <a:srgbClr val="143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 dirty="0" smtClean="0">
                <a:solidFill>
                  <a:srgbClr val="FFFFFF"/>
                </a:solidFill>
                <a:latin typeface="Aptos"/>
              </a:rPr>
              <a:t>Business Domains</a:t>
            </a:r>
            <a:endParaRPr sz="23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5F646E"/>
                </a:solidFill>
                <a:latin typeface="Aptos"/>
              </a:rPr>
              <a:t>CRM, Sales, Project Management, Finance and Service Management.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2286000" cy="5303520"/>
          </a:xfrm>
          <a:prstGeom prst="rect">
            <a:avLst/>
          </a:prstGeom>
          <a:solidFill>
            <a:srgbClr val="FFFFFF"/>
          </a:solidFill>
          <a:ln w="15240">
            <a:solidFill>
              <a:srgbClr val="1F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56032" y="1078992"/>
            <a:ext cx="2231136" cy="411480"/>
          </a:xfrm>
          <a:prstGeom prst="rect">
            <a:avLst/>
          </a:prstGeom>
          <a:solidFill>
            <a:srgbClr val="1F69BE"/>
          </a:solidFill>
          <a:ln w="12700">
            <a:solidFill>
              <a:srgbClr val="1F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ptos"/>
              </a:rPr>
              <a:t>2. Customer Relationship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" y="1563624"/>
            <a:ext cx="70713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288246"/>
                </a:solidFill>
                <a:latin typeface="Aptos"/>
              </a:rPr>
              <a:t>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99" y="1563624"/>
            <a:ext cx="70713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69419B"/>
                </a:solidFill>
                <a:latin typeface="Aptos"/>
              </a:rPr>
              <a:t>Sub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7736" y="1563624"/>
            <a:ext cx="70713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EB7819"/>
                </a:solidFill>
                <a:latin typeface="Aptos"/>
              </a:rPr>
              <a:t>Feature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837943"/>
            <a:ext cx="679704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Lead Management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1455" y="1837943"/>
            <a:ext cx="679704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Lead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88592" y="1837943"/>
            <a:ext cx="798576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Lead Capture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4023" y="2048255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661160" y="2048255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74320" y="2313432"/>
            <a:ext cx="679704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Opportunity Management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1455" y="2313432"/>
            <a:ext cx="679704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Opportunity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88592" y="2313432"/>
            <a:ext cx="798576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Opportunity Pipeline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54023" y="2523744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661160" y="2523744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74320" y="2788920"/>
            <a:ext cx="679704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Customer Management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1455" y="2788920"/>
            <a:ext cx="679704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Customer Master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88592" y="2788920"/>
            <a:ext cx="798576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Customer Profile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54023" y="2999232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661160" y="2999232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74320" y="3264408"/>
            <a:ext cx="679704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Activity Management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1455" y="3264408"/>
            <a:ext cx="679704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Activities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88592" y="3264408"/>
            <a:ext cx="798576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Activity Timeline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54023" y="3474720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61160" y="3474720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2633472" y="1051560"/>
            <a:ext cx="2286000" cy="5303520"/>
          </a:xfrm>
          <a:prstGeom prst="rect">
            <a:avLst/>
          </a:prstGeom>
          <a:solidFill>
            <a:srgbClr val="FFFFFF"/>
          </a:solidFill>
          <a:ln w="15240">
            <a:solidFill>
              <a:srgbClr val="1F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660903" y="1078992"/>
            <a:ext cx="2231136" cy="411480"/>
          </a:xfrm>
          <a:prstGeom prst="rect">
            <a:avLst/>
          </a:prstGeom>
          <a:solidFill>
            <a:srgbClr val="1F69BE"/>
          </a:solidFill>
          <a:ln w="12700">
            <a:solidFill>
              <a:srgbClr val="1F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3. Sales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88336" y="1563624"/>
            <a:ext cx="70713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288246"/>
                </a:solidFill>
                <a:latin typeface="Aptos"/>
              </a:rPr>
              <a:t>Module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95472" y="1563624"/>
            <a:ext cx="70713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69419B"/>
                </a:solidFill>
                <a:latin typeface="Aptos"/>
              </a:rPr>
              <a:t>Sub Module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02607" y="1563624"/>
            <a:ext cx="70713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EB7819"/>
                </a:solidFill>
                <a:latin typeface="Aptos"/>
              </a:rPr>
              <a:t>Feature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79191" y="2380871"/>
            <a:ext cx="679704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 dirty="0">
                <a:solidFill>
                  <a:schemeClr val="tx1"/>
                </a:solidFill>
                <a:latin typeface="Aptos"/>
              </a:rPr>
              <a:t>Quotation Management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86328" y="2380871"/>
            <a:ext cx="679704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Quotation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93463" y="2380871"/>
            <a:ext cx="716279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Quotation Creation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358896" y="2048255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066031" y="2048255"/>
            <a:ext cx="27433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2679191" y="2856360"/>
            <a:ext cx="679704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Proposal Management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6328" y="2856360"/>
            <a:ext cx="679704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Proposal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093463" y="2856360"/>
            <a:ext cx="716279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Proposal Versioning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358896" y="2523744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066031" y="2523744"/>
            <a:ext cx="27433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2679191" y="3331848"/>
            <a:ext cx="679704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Sales Order Management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86328" y="3331848"/>
            <a:ext cx="679704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Sales Order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093463" y="3331848"/>
            <a:ext cx="716279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Sales Order Processing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358896" y="2999232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066031" y="2999232"/>
            <a:ext cx="27433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2679191" y="3807336"/>
            <a:ext cx="679704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Work Order Management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386328" y="3807336"/>
            <a:ext cx="679704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Work Order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093463" y="3807336"/>
            <a:ext cx="716279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Work Order Generation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3358896" y="3474720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066031" y="3474720"/>
            <a:ext cx="27433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5038344" y="1051560"/>
            <a:ext cx="2286000" cy="5303520"/>
          </a:xfrm>
          <a:prstGeom prst="rect">
            <a:avLst/>
          </a:prstGeom>
          <a:solidFill>
            <a:srgbClr val="FFFFFF"/>
          </a:solidFill>
          <a:ln w="1524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065776" y="1078992"/>
            <a:ext cx="2231136" cy="411480"/>
          </a:xfrm>
          <a:prstGeom prst="rect">
            <a:avLst/>
          </a:prstGeom>
          <a:solidFill>
            <a:srgbClr val="288246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4. Project Management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93207" y="1563624"/>
            <a:ext cx="70713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288246"/>
                </a:solidFill>
                <a:latin typeface="Aptos"/>
              </a:rPr>
              <a:t>Module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00344" y="1563624"/>
            <a:ext cx="70713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69419B"/>
                </a:solidFill>
                <a:latin typeface="Aptos"/>
              </a:rPr>
              <a:t>Sub Module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07480" y="1563624"/>
            <a:ext cx="70713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EB7819"/>
                </a:solidFill>
                <a:latin typeface="Aptos"/>
              </a:rPr>
              <a:t>Feature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084064" y="1837943"/>
            <a:ext cx="679704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Project Management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791200" y="1837943"/>
            <a:ext cx="679704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Project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98336" y="1837943"/>
            <a:ext cx="798576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 dirty="0">
                <a:solidFill>
                  <a:schemeClr val="tx1"/>
                </a:solidFill>
                <a:latin typeface="Aptos"/>
              </a:rPr>
              <a:t>Project Planning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763767" y="2048255"/>
            <a:ext cx="27433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6470904" y="2048255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5084064" y="2313432"/>
            <a:ext cx="679704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Milestone Management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791200" y="2313432"/>
            <a:ext cx="679704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Milestone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98336" y="2313432"/>
            <a:ext cx="798576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Milestone Tracking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5763767" y="2523744"/>
            <a:ext cx="27433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6470904" y="2523744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5084064" y="2788920"/>
            <a:ext cx="679704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Task Management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791200" y="2788920"/>
            <a:ext cx="679704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Task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498336" y="2788920"/>
            <a:ext cx="798576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Task Assignment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5763767" y="2999232"/>
            <a:ext cx="27433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470904" y="2999232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5084064" y="3264408"/>
            <a:ext cx="679704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Timesheet Management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791200" y="3264408"/>
            <a:ext cx="679704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Timesheet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498336" y="3264408"/>
            <a:ext cx="798576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Time Entry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5763767" y="3474720"/>
            <a:ext cx="27433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6470904" y="3474720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5084064" y="3739896"/>
            <a:ext cx="679704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Issue Management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791200" y="3739896"/>
            <a:ext cx="679704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Issue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498336" y="3739896"/>
            <a:ext cx="798576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Issue Tracking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5763767" y="3950208"/>
            <a:ext cx="27433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6470904" y="3950208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5084064" y="4215383"/>
            <a:ext cx="679704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Change Request Management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791200" y="4215383"/>
            <a:ext cx="679704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Change Request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498336" y="4215383"/>
            <a:ext cx="798576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Scope Change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5763767" y="4425696"/>
            <a:ext cx="27433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470904" y="4425696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7443216" y="1051560"/>
            <a:ext cx="2286000" cy="5303520"/>
          </a:xfrm>
          <a:prstGeom prst="rect">
            <a:avLst/>
          </a:prstGeom>
          <a:solidFill>
            <a:srgbClr val="FFFFFF"/>
          </a:solidFill>
          <a:ln w="1524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7470648" y="1078992"/>
            <a:ext cx="2231136" cy="411480"/>
          </a:xfrm>
          <a:prstGeom prst="rect">
            <a:avLst/>
          </a:prstGeom>
          <a:solidFill>
            <a:srgbClr val="EB7819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5. Finance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498080" y="1563624"/>
            <a:ext cx="70713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288246"/>
                </a:solidFill>
                <a:latin typeface="Aptos"/>
              </a:rPr>
              <a:t>Module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205216" y="1563624"/>
            <a:ext cx="70713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69419B"/>
                </a:solidFill>
                <a:latin typeface="Aptos"/>
              </a:rPr>
              <a:t>Sub Module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12352" y="1563624"/>
            <a:ext cx="70713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EB7819"/>
                </a:solidFill>
                <a:latin typeface="Aptos"/>
              </a:rPr>
              <a:t>Feature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488936" y="1837943"/>
            <a:ext cx="679704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Invoice Management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196072" y="1837943"/>
            <a:ext cx="679704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Invoice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903208" y="1837943"/>
            <a:ext cx="798576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Customer Invoice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8168640" y="2048255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875776" y="2048255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ounded Rectangle 98"/>
          <p:cNvSpPr/>
          <p:nvPr/>
        </p:nvSpPr>
        <p:spPr>
          <a:xfrm>
            <a:off x="7488936" y="2313432"/>
            <a:ext cx="679704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Payment Management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196072" y="2313432"/>
            <a:ext cx="679704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Payment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8903208" y="2313432"/>
            <a:ext cx="798576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Payment Receipt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8168640" y="2523744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8875776" y="2523744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103"/>
          <p:cNvSpPr/>
          <p:nvPr/>
        </p:nvSpPr>
        <p:spPr>
          <a:xfrm>
            <a:off x="7488936" y="2788920"/>
            <a:ext cx="679704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Vendor Settlement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196072" y="2788920"/>
            <a:ext cx="679704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Settlement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903208" y="2788920"/>
            <a:ext cx="798576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Vendor Payment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8168640" y="2999232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8875776" y="2999232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ounded Rectangle 108"/>
          <p:cNvSpPr/>
          <p:nvPr/>
        </p:nvSpPr>
        <p:spPr>
          <a:xfrm>
            <a:off x="7488936" y="3264408"/>
            <a:ext cx="679704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Tax Management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8196072" y="3264408"/>
            <a:ext cx="679704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Tax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8903208" y="3264408"/>
            <a:ext cx="798576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GST &amp; TDS Processing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8168640" y="3474720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8875776" y="3474720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ectangle 113"/>
          <p:cNvSpPr/>
          <p:nvPr/>
        </p:nvSpPr>
        <p:spPr>
          <a:xfrm>
            <a:off x="9848088" y="1051560"/>
            <a:ext cx="2103120" cy="5303520"/>
          </a:xfrm>
          <a:prstGeom prst="rect">
            <a:avLst/>
          </a:prstGeom>
          <a:solidFill>
            <a:srgbClr val="FFFFFF"/>
          </a:solidFill>
          <a:ln w="1524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9875519" y="1078992"/>
            <a:ext cx="2048255" cy="411480"/>
          </a:xfrm>
          <a:prstGeom prst="rect">
            <a:avLst/>
          </a:prstGeom>
          <a:solidFill>
            <a:srgbClr val="69419B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6. Service Management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902952" y="1563624"/>
            <a:ext cx="646175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288246"/>
                </a:solidFill>
                <a:latin typeface="Aptos"/>
              </a:rPr>
              <a:t>Module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549128" y="1563624"/>
            <a:ext cx="646175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69419B"/>
                </a:solidFill>
                <a:latin typeface="Aptos"/>
              </a:rPr>
              <a:t>Sub Module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1195303" y="1563624"/>
            <a:ext cx="646175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EB7819"/>
                </a:solidFill>
                <a:latin typeface="Aptos"/>
              </a:rPr>
              <a:t>Feature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9893808" y="1837943"/>
            <a:ext cx="618743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Ticket Management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0539984" y="1837943"/>
            <a:ext cx="618743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Ticket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11186160" y="1837943"/>
            <a:ext cx="737614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Ticket Lifecycle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10512552" y="2048255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1158728" y="2048255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ounded Rectangle 123"/>
          <p:cNvSpPr/>
          <p:nvPr/>
        </p:nvSpPr>
        <p:spPr>
          <a:xfrm>
            <a:off x="9893808" y="2313432"/>
            <a:ext cx="618743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SLA Management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10539984" y="2313432"/>
            <a:ext cx="618743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SLA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1186160" y="2313432"/>
            <a:ext cx="737614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SLA Monitoring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10512552" y="2523744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11158728" y="2523744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ounded Rectangle 128"/>
          <p:cNvSpPr/>
          <p:nvPr/>
        </p:nvSpPr>
        <p:spPr>
          <a:xfrm>
            <a:off x="9893808" y="2788920"/>
            <a:ext cx="618743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Knowledge Management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10539984" y="2788920"/>
            <a:ext cx="618743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Knowledge Base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1186160" y="2788920"/>
            <a:ext cx="737614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Knowledge Articles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10512552" y="2999232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11158728" y="2999232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Rounded Rectangle 133"/>
          <p:cNvSpPr/>
          <p:nvPr/>
        </p:nvSpPr>
        <p:spPr>
          <a:xfrm>
            <a:off x="2706623" y="1892808"/>
            <a:ext cx="679704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 smtClean="0">
                <a:solidFill>
                  <a:schemeClr val="tx1"/>
                </a:solidFill>
                <a:latin typeface="Aptos"/>
              </a:rPr>
              <a:t>CPQ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35" name="Rounded Rectangle 134"/>
          <p:cNvSpPr/>
          <p:nvPr/>
        </p:nvSpPr>
        <p:spPr>
          <a:xfrm>
            <a:off x="3413760" y="1892808"/>
            <a:ext cx="679704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CPQ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4120895" y="1892808"/>
            <a:ext cx="716279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Quote Calculation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032901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164592"/>
            <a:ext cx="11548872" cy="502920"/>
          </a:xfrm>
          <a:prstGeom prst="roundRect">
            <a:avLst/>
          </a:prstGeom>
          <a:solidFill>
            <a:srgbClr val="143669"/>
          </a:solidFill>
          <a:ln w="12700">
            <a:solidFill>
              <a:srgbClr val="143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300" b="1" dirty="0">
                <a:solidFill>
                  <a:srgbClr val="FFFFFF"/>
                </a:solidFill>
                <a:latin typeface="Aptos"/>
              </a:rPr>
              <a:t>Core Platform Services &amp; Integration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5F646E"/>
                </a:solidFill>
                <a:latin typeface="Aptos"/>
              </a:rPr>
              <a:t>CRM, Sales, Project Management, Finance and Service Management.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43482" y="1066606"/>
            <a:ext cx="2581655" cy="5303520"/>
          </a:xfrm>
          <a:prstGeom prst="rect">
            <a:avLst/>
          </a:prstGeom>
          <a:solidFill>
            <a:srgbClr val="FFFFFF"/>
          </a:solidFill>
          <a:ln w="15240">
            <a:solidFill>
              <a:srgbClr val="1F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71591" y="1094038"/>
            <a:ext cx="2511826" cy="411480"/>
          </a:xfrm>
          <a:prstGeom prst="rect">
            <a:avLst/>
          </a:prstGeom>
          <a:solidFill>
            <a:srgbClr val="1F69BE"/>
          </a:solidFill>
          <a:ln w="12700">
            <a:solidFill>
              <a:srgbClr val="1F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solidFill>
                  <a:srgbClr val="FFFFFF"/>
                </a:solidFill>
                <a:latin typeface="Aptos"/>
              </a:rPr>
              <a:t>7</a:t>
            </a:r>
            <a:r>
              <a:rPr sz="1200" b="1" dirty="0" smtClean="0">
                <a:solidFill>
                  <a:srgbClr val="FFFFFF"/>
                </a:solidFill>
                <a:latin typeface="Aptos"/>
              </a:rPr>
              <a:t>. </a:t>
            </a:r>
            <a:r>
              <a:rPr lang="en-IN" sz="1200" b="1" dirty="0">
                <a:solidFill>
                  <a:srgbClr val="FFFFFF"/>
                </a:solidFill>
                <a:latin typeface="Aptos"/>
              </a:rPr>
              <a:t>Customer Success</a:t>
            </a:r>
            <a:endParaRPr sz="12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6819" y="1578670"/>
            <a:ext cx="70713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 dirty="0">
                <a:solidFill>
                  <a:srgbClr val="288246"/>
                </a:solidFill>
                <a:latin typeface="Aptos"/>
              </a:rPr>
              <a:t>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9680" y="1578670"/>
            <a:ext cx="70713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69419B"/>
                </a:solidFill>
                <a:latin typeface="Aptos"/>
              </a:rPr>
              <a:t>Sub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08273" y="1578670"/>
            <a:ext cx="70713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 dirty="0">
                <a:solidFill>
                  <a:srgbClr val="EB7819"/>
                </a:solidFill>
                <a:latin typeface="Aptos"/>
              </a:rPr>
              <a:t>Feature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5879" y="1852989"/>
            <a:ext cx="779497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 smtClean="0">
                <a:solidFill>
                  <a:schemeClr val="tx1"/>
                </a:solidFill>
                <a:latin typeface="Aptos"/>
              </a:rPr>
              <a:t>On boarding </a:t>
            </a:r>
            <a:r>
              <a:rPr lang="en-IN" sz="750" dirty="0">
                <a:solidFill>
                  <a:schemeClr val="tx1"/>
                </a:solidFill>
                <a:latin typeface="Aptos"/>
              </a:rPr>
              <a:t>Management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330748" y="1852989"/>
            <a:ext cx="746538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 smtClean="0">
                <a:solidFill>
                  <a:schemeClr val="tx1"/>
                </a:solidFill>
                <a:latin typeface="Aptos"/>
              </a:rPr>
              <a:t>On boarding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134311" y="1852989"/>
            <a:ext cx="842872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Customer </a:t>
            </a:r>
            <a:r>
              <a:rPr lang="en-IN" sz="750" dirty="0" smtClean="0">
                <a:solidFill>
                  <a:schemeClr val="tx1"/>
                </a:solidFill>
                <a:latin typeface="Aptos"/>
              </a:rPr>
              <a:t>On boarding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464560" y="2063301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171697" y="2063301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254682" y="1075179"/>
            <a:ext cx="2652903" cy="5303520"/>
          </a:xfrm>
          <a:prstGeom prst="rect">
            <a:avLst/>
          </a:prstGeom>
          <a:solidFill>
            <a:srgbClr val="FFFFFF"/>
          </a:solidFill>
          <a:ln w="15240">
            <a:solidFill>
              <a:srgbClr val="1F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358124" y="1120899"/>
            <a:ext cx="2231136" cy="411480"/>
          </a:xfrm>
          <a:prstGeom prst="rect">
            <a:avLst/>
          </a:prstGeom>
          <a:solidFill>
            <a:srgbClr val="1F69BE"/>
          </a:solidFill>
          <a:ln w="12700">
            <a:solidFill>
              <a:srgbClr val="1F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rgbClr val="FFFFFF"/>
                </a:solidFill>
                <a:latin typeface="Aptos"/>
              </a:rPr>
              <a:t>8</a:t>
            </a:r>
            <a:r>
              <a:rPr sz="1200" b="1" dirty="0" smtClean="0">
                <a:solidFill>
                  <a:srgbClr val="FFFFFF"/>
                </a:solidFill>
                <a:latin typeface="Aptos"/>
              </a:rPr>
              <a:t>. </a:t>
            </a:r>
            <a:r>
              <a:rPr lang="en-IN" sz="1200" b="1" dirty="0">
                <a:solidFill>
                  <a:srgbClr val="FFFFFF"/>
                </a:solidFill>
                <a:latin typeface="Aptos"/>
              </a:rPr>
              <a:t>Marketing Automation</a:t>
            </a:r>
            <a:endParaRPr sz="12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385557" y="1605531"/>
            <a:ext cx="70713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288246"/>
                </a:solidFill>
                <a:latin typeface="Aptos"/>
              </a:rPr>
              <a:t>Module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92709" y="1605531"/>
            <a:ext cx="70713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 dirty="0">
                <a:solidFill>
                  <a:srgbClr val="69419B"/>
                </a:solidFill>
                <a:latin typeface="Aptos"/>
              </a:rPr>
              <a:t>Sub Module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57012" y="1605531"/>
            <a:ext cx="70713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 dirty="0">
                <a:solidFill>
                  <a:srgbClr val="EB7819"/>
                </a:solidFill>
                <a:latin typeface="Aptos"/>
              </a:rPr>
              <a:t>Feature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152751" y="1084894"/>
            <a:ext cx="2616896" cy="5270186"/>
          </a:xfrm>
          <a:prstGeom prst="rect">
            <a:avLst/>
          </a:prstGeom>
          <a:solidFill>
            <a:srgbClr val="FFFFFF"/>
          </a:solidFill>
          <a:ln w="1524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ounded Rectangle 137"/>
          <p:cNvSpPr/>
          <p:nvPr/>
        </p:nvSpPr>
        <p:spPr>
          <a:xfrm>
            <a:off x="6157895" y="1112326"/>
            <a:ext cx="2584320" cy="411480"/>
          </a:xfrm>
          <a:prstGeom prst="roundRect">
            <a:avLst/>
          </a:prstGeom>
          <a:solidFill>
            <a:srgbClr val="69419B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rgbClr val="FFFFFF"/>
                </a:solidFill>
                <a:latin typeface="Aptos"/>
              </a:rPr>
              <a:t>9</a:t>
            </a:r>
            <a:r>
              <a:rPr sz="1200" b="1" dirty="0" smtClean="0">
                <a:solidFill>
                  <a:srgbClr val="FFFFFF"/>
                </a:solidFill>
                <a:latin typeface="Aptos"/>
              </a:rPr>
              <a:t>. </a:t>
            </a:r>
            <a:r>
              <a:rPr sz="1200" b="1" dirty="0">
                <a:solidFill>
                  <a:srgbClr val="FFFFFF"/>
                </a:solidFill>
                <a:latin typeface="Aptos"/>
              </a:rPr>
              <a:t>Integration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152751" y="1596958"/>
            <a:ext cx="85953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288246"/>
                </a:solidFill>
                <a:latin typeface="Aptos"/>
              </a:rPr>
              <a:t>Module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012287" y="1596958"/>
            <a:ext cx="85953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69419B"/>
                </a:solidFill>
                <a:latin typeface="Aptos"/>
              </a:rPr>
              <a:t>Sub Module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871823" y="1596958"/>
            <a:ext cx="85953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EB7819"/>
                </a:solidFill>
                <a:latin typeface="Aptos"/>
              </a:rPr>
              <a:t>Feature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6186471" y="1871278"/>
            <a:ext cx="832103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REST API Management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7046007" y="1871278"/>
            <a:ext cx="832103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API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7905542" y="1871278"/>
            <a:ext cx="832103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REST Services</a:t>
            </a:r>
          </a:p>
        </p:txBody>
      </p:sp>
      <p:cxnSp>
        <p:nvCxnSpPr>
          <p:cNvPr id="145" name="Connector 11"/>
          <p:cNvCxnSpPr/>
          <p:nvPr/>
        </p:nvCxnSpPr>
        <p:spPr>
          <a:xfrm>
            <a:off x="7018575" y="2081590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2"/>
          <p:cNvCxnSpPr/>
          <p:nvPr/>
        </p:nvCxnSpPr>
        <p:spPr>
          <a:xfrm>
            <a:off x="7878111" y="2081590"/>
            <a:ext cx="27431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ounded Rectangle 146"/>
          <p:cNvSpPr/>
          <p:nvPr/>
        </p:nvSpPr>
        <p:spPr>
          <a:xfrm>
            <a:off x="6186471" y="2346766"/>
            <a:ext cx="832103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Webhook Management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7046007" y="2346766"/>
            <a:ext cx="832103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Webhooks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7905542" y="2346766"/>
            <a:ext cx="832103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Event Notifications</a:t>
            </a:r>
          </a:p>
        </p:txBody>
      </p:sp>
      <p:cxnSp>
        <p:nvCxnSpPr>
          <p:cNvPr id="150" name="Connector 16"/>
          <p:cNvCxnSpPr/>
          <p:nvPr/>
        </p:nvCxnSpPr>
        <p:spPr>
          <a:xfrm>
            <a:off x="7018575" y="2557078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7"/>
          <p:cNvCxnSpPr/>
          <p:nvPr/>
        </p:nvCxnSpPr>
        <p:spPr>
          <a:xfrm>
            <a:off x="7878111" y="2557078"/>
            <a:ext cx="27431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Rounded Rectangle 151"/>
          <p:cNvSpPr/>
          <p:nvPr/>
        </p:nvSpPr>
        <p:spPr>
          <a:xfrm>
            <a:off x="6186471" y="2822254"/>
            <a:ext cx="832103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OAuth Management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7046007" y="2822254"/>
            <a:ext cx="832103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OAuth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7905542" y="2822254"/>
            <a:ext cx="832103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Third-Party Authentication</a:t>
            </a:r>
          </a:p>
        </p:txBody>
      </p:sp>
      <p:cxnSp>
        <p:nvCxnSpPr>
          <p:cNvPr id="155" name="Connector 21"/>
          <p:cNvCxnSpPr/>
          <p:nvPr/>
        </p:nvCxnSpPr>
        <p:spPr>
          <a:xfrm>
            <a:off x="7018575" y="3032566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22"/>
          <p:cNvCxnSpPr/>
          <p:nvPr/>
        </p:nvCxnSpPr>
        <p:spPr>
          <a:xfrm>
            <a:off x="7878111" y="3032566"/>
            <a:ext cx="27431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Rounded Rectangle 156"/>
          <p:cNvSpPr/>
          <p:nvPr/>
        </p:nvSpPr>
        <p:spPr>
          <a:xfrm>
            <a:off x="6186471" y="3297742"/>
            <a:ext cx="832103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Connector Management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7046007" y="3297742"/>
            <a:ext cx="832103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Connectors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7905542" y="3297742"/>
            <a:ext cx="832103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External System Connectors</a:t>
            </a:r>
          </a:p>
        </p:txBody>
      </p:sp>
      <p:cxnSp>
        <p:nvCxnSpPr>
          <p:cNvPr id="160" name="Connector 26"/>
          <p:cNvCxnSpPr/>
          <p:nvPr/>
        </p:nvCxnSpPr>
        <p:spPr>
          <a:xfrm>
            <a:off x="7018575" y="3508054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27"/>
          <p:cNvCxnSpPr/>
          <p:nvPr/>
        </p:nvCxnSpPr>
        <p:spPr>
          <a:xfrm>
            <a:off x="7878111" y="3508054"/>
            <a:ext cx="27431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Rectangle 161"/>
          <p:cNvSpPr/>
          <p:nvPr/>
        </p:nvSpPr>
        <p:spPr>
          <a:xfrm>
            <a:off x="9030837" y="1078992"/>
            <a:ext cx="2688336" cy="5270186"/>
          </a:xfrm>
          <a:prstGeom prst="rect">
            <a:avLst/>
          </a:prstGeom>
          <a:solidFill>
            <a:srgbClr val="FFFFFF"/>
          </a:solidFill>
          <a:ln w="1524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ounded Rectangle 162"/>
          <p:cNvSpPr/>
          <p:nvPr/>
        </p:nvSpPr>
        <p:spPr>
          <a:xfrm>
            <a:off x="9078845" y="1106424"/>
            <a:ext cx="2612896" cy="411480"/>
          </a:xfrm>
          <a:prstGeom prst="roundRect">
            <a:avLst/>
          </a:prstGeom>
          <a:solidFill>
            <a:srgbClr val="EB7819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solidFill>
                  <a:srgbClr val="FFFFFF"/>
                </a:solidFill>
                <a:latin typeface="Aptos"/>
              </a:rPr>
              <a:t>10</a:t>
            </a:r>
            <a:r>
              <a:rPr sz="1200" b="1" dirty="0" smtClean="0">
                <a:solidFill>
                  <a:srgbClr val="FFFFFF"/>
                </a:solidFill>
                <a:latin typeface="Aptos"/>
              </a:rPr>
              <a:t>. </a:t>
            </a:r>
            <a:r>
              <a:rPr lang="en-IN" sz="1200" b="1" dirty="0">
                <a:solidFill>
                  <a:srgbClr val="FFFFFF"/>
                </a:solidFill>
                <a:latin typeface="Aptos"/>
              </a:rPr>
              <a:t>Core Platform Services</a:t>
            </a:r>
            <a:endParaRPr sz="12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9030837" y="1591056"/>
            <a:ext cx="85953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288246"/>
                </a:solidFill>
                <a:latin typeface="Aptos"/>
              </a:rPr>
              <a:t>Module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9890373" y="1591056"/>
            <a:ext cx="85953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69419B"/>
                </a:solidFill>
                <a:latin typeface="Aptos"/>
              </a:rPr>
              <a:t>Sub Module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0749909" y="1591056"/>
            <a:ext cx="85953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EB7819"/>
                </a:solidFill>
                <a:latin typeface="Aptos"/>
              </a:rPr>
              <a:t>Feature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9078845" y="1865376"/>
            <a:ext cx="832103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Workflow Engine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9938380" y="1865376"/>
            <a:ext cx="832103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Workflow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10797917" y="1865376"/>
            <a:ext cx="832103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Workflow Designer</a:t>
            </a:r>
          </a:p>
        </p:txBody>
      </p:sp>
      <p:cxnSp>
        <p:nvCxnSpPr>
          <p:cNvPr id="170" name="Connector 36"/>
          <p:cNvCxnSpPr/>
          <p:nvPr/>
        </p:nvCxnSpPr>
        <p:spPr>
          <a:xfrm>
            <a:off x="9910948" y="2075688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37"/>
          <p:cNvCxnSpPr/>
          <p:nvPr/>
        </p:nvCxnSpPr>
        <p:spPr>
          <a:xfrm>
            <a:off x="10770485" y="2075688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Rounded Rectangle 171"/>
          <p:cNvSpPr/>
          <p:nvPr/>
        </p:nvSpPr>
        <p:spPr>
          <a:xfrm>
            <a:off x="9078845" y="2340864"/>
            <a:ext cx="832103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Rule Engine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9938380" y="2340864"/>
            <a:ext cx="832103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Business Rules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10797917" y="2340864"/>
            <a:ext cx="832103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Rule Configuration</a:t>
            </a:r>
          </a:p>
        </p:txBody>
      </p:sp>
      <p:cxnSp>
        <p:nvCxnSpPr>
          <p:cNvPr id="175" name="Connector 41"/>
          <p:cNvCxnSpPr/>
          <p:nvPr/>
        </p:nvCxnSpPr>
        <p:spPr>
          <a:xfrm>
            <a:off x="9910948" y="2551176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42"/>
          <p:cNvCxnSpPr/>
          <p:nvPr/>
        </p:nvCxnSpPr>
        <p:spPr>
          <a:xfrm>
            <a:off x="10770485" y="2551176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Rounded Rectangle 176"/>
          <p:cNvSpPr/>
          <p:nvPr/>
        </p:nvSpPr>
        <p:spPr>
          <a:xfrm>
            <a:off x="9087989" y="2816352"/>
            <a:ext cx="832103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 dirty="0">
                <a:solidFill>
                  <a:schemeClr val="tx1"/>
                </a:solidFill>
                <a:latin typeface="Aptos"/>
              </a:rPr>
              <a:t>Notification Engine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9947525" y="2816352"/>
            <a:ext cx="832103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Notifications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10807061" y="2816352"/>
            <a:ext cx="832103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Multi-Channel Notification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9107420" y="4735637"/>
            <a:ext cx="832103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AI Assistant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9966956" y="4735637"/>
            <a:ext cx="832103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AI Services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10826492" y="4735637"/>
            <a:ext cx="832103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0">
                <a:solidFill>
                  <a:schemeClr val="tx1"/>
                </a:solidFill>
                <a:latin typeface="Aptos"/>
              </a:rPr>
              <a:t>AI Recommendations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9115422" y="3291840"/>
            <a:ext cx="832103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Reporting &amp; Analytics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84" name="Rounded Rectangle 183"/>
          <p:cNvSpPr/>
          <p:nvPr/>
        </p:nvSpPr>
        <p:spPr>
          <a:xfrm>
            <a:off x="9974958" y="3291840"/>
            <a:ext cx="832103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Reports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85" name="Rounded Rectangle 184"/>
          <p:cNvSpPr/>
          <p:nvPr/>
        </p:nvSpPr>
        <p:spPr>
          <a:xfrm>
            <a:off x="10834494" y="3291840"/>
            <a:ext cx="832103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Dashboard &amp; MIS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86" name="Rounded Rectangle 185"/>
          <p:cNvSpPr/>
          <p:nvPr/>
        </p:nvSpPr>
        <p:spPr>
          <a:xfrm>
            <a:off x="9115992" y="3778946"/>
            <a:ext cx="832103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Audit Service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87" name="Rounded Rectangle 186"/>
          <p:cNvSpPr/>
          <p:nvPr/>
        </p:nvSpPr>
        <p:spPr>
          <a:xfrm>
            <a:off x="9975528" y="3778946"/>
            <a:ext cx="832103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Audit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88" name="Rounded Rectangle 187"/>
          <p:cNvSpPr/>
          <p:nvPr/>
        </p:nvSpPr>
        <p:spPr>
          <a:xfrm>
            <a:off x="10835064" y="3778946"/>
            <a:ext cx="832103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System Audit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89" name="Rounded Rectangle 188"/>
          <p:cNvSpPr/>
          <p:nvPr/>
        </p:nvSpPr>
        <p:spPr>
          <a:xfrm>
            <a:off x="9109131" y="4257861"/>
            <a:ext cx="832103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Document Management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90" name="Rounded Rectangle 189"/>
          <p:cNvSpPr/>
          <p:nvPr/>
        </p:nvSpPr>
        <p:spPr>
          <a:xfrm>
            <a:off x="9968667" y="4257861"/>
            <a:ext cx="832103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Documents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91" name="Rounded Rectangle 190"/>
          <p:cNvSpPr/>
          <p:nvPr/>
        </p:nvSpPr>
        <p:spPr>
          <a:xfrm>
            <a:off x="10842491" y="4257861"/>
            <a:ext cx="832103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Version Control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92" name="Rounded Rectangle 191"/>
          <p:cNvSpPr/>
          <p:nvPr/>
        </p:nvSpPr>
        <p:spPr>
          <a:xfrm>
            <a:off x="9106278" y="5185405"/>
            <a:ext cx="832103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Integration Framework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93" name="Rounded Rectangle 192"/>
          <p:cNvSpPr/>
          <p:nvPr/>
        </p:nvSpPr>
        <p:spPr>
          <a:xfrm>
            <a:off x="9965814" y="5185405"/>
            <a:ext cx="832103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Integration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94" name="Rounded Rectangle 193"/>
          <p:cNvSpPr/>
          <p:nvPr/>
        </p:nvSpPr>
        <p:spPr>
          <a:xfrm>
            <a:off x="10825350" y="5185405"/>
            <a:ext cx="832103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Enterprise Integration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95" name="Rounded Rectangle 194"/>
          <p:cNvSpPr/>
          <p:nvPr/>
        </p:nvSpPr>
        <p:spPr>
          <a:xfrm>
            <a:off x="492113" y="2345426"/>
            <a:ext cx="779497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Customer Health Management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96" name="Rounded Rectangle 195"/>
          <p:cNvSpPr/>
          <p:nvPr/>
        </p:nvSpPr>
        <p:spPr>
          <a:xfrm>
            <a:off x="1336982" y="2345426"/>
            <a:ext cx="746538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Health Score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97" name="Rounded Rectangle 196"/>
          <p:cNvSpPr/>
          <p:nvPr/>
        </p:nvSpPr>
        <p:spPr>
          <a:xfrm>
            <a:off x="2140545" y="2345426"/>
            <a:ext cx="842872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Customer Health Score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98" name="Rounded Rectangle 197"/>
          <p:cNvSpPr/>
          <p:nvPr/>
        </p:nvSpPr>
        <p:spPr>
          <a:xfrm>
            <a:off x="500167" y="2845686"/>
            <a:ext cx="779497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Renewal Management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99" name="Rounded Rectangle 198"/>
          <p:cNvSpPr/>
          <p:nvPr/>
        </p:nvSpPr>
        <p:spPr>
          <a:xfrm>
            <a:off x="1345036" y="2845686"/>
            <a:ext cx="746538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Renewal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200" name="Rounded Rectangle 199"/>
          <p:cNvSpPr/>
          <p:nvPr/>
        </p:nvSpPr>
        <p:spPr>
          <a:xfrm>
            <a:off x="2148599" y="2845686"/>
            <a:ext cx="842872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Renewal Planning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201" name="Rounded Rectangle 200"/>
          <p:cNvSpPr/>
          <p:nvPr/>
        </p:nvSpPr>
        <p:spPr>
          <a:xfrm>
            <a:off x="492113" y="3321174"/>
            <a:ext cx="779497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Upsell Management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202" name="Rounded Rectangle 201"/>
          <p:cNvSpPr/>
          <p:nvPr/>
        </p:nvSpPr>
        <p:spPr>
          <a:xfrm>
            <a:off x="1336982" y="3321174"/>
            <a:ext cx="746538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Upsell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203" name="Rounded Rectangle 202"/>
          <p:cNvSpPr/>
          <p:nvPr/>
        </p:nvSpPr>
        <p:spPr>
          <a:xfrm>
            <a:off x="2140545" y="3321174"/>
            <a:ext cx="842872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Upsell Opportunities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204" name="Rounded Rectangle 203"/>
          <p:cNvSpPr/>
          <p:nvPr/>
        </p:nvSpPr>
        <p:spPr>
          <a:xfrm>
            <a:off x="519358" y="3802184"/>
            <a:ext cx="779497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Churn Management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205" name="Rounded Rectangle 204"/>
          <p:cNvSpPr/>
          <p:nvPr/>
        </p:nvSpPr>
        <p:spPr>
          <a:xfrm>
            <a:off x="1364227" y="3802184"/>
            <a:ext cx="746538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Churn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206" name="Rounded Rectangle 205"/>
          <p:cNvSpPr/>
          <p:nvPr/>
        </p:nvSpPr>
        <p:spPr>
          <a:xfrm>
            <a:off x="2167790" y="3802184"/>
            <a:ext cx="842872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Churn Prevention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207" name="Rounded Rectangle 206"/>
          <p:cNvSpPr/>
          <p:nvPr/>
        </p:nvSpPr>
        <p:spPr>
          <a:xfrm>
            <a:off x="3358124" y="1865376"/>
            <a:ext cx="779497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>
                <a:solidFill>
                  <a:schemeClr val="tx1"/>
                </a:solidFill>
                <a:latin typeface="Aptos"/>
              </a:rPr>
              <a:t>Campaign Management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208" name="Rounded Rectangle 207"/>
          <p:cNvSpPr/>
          <p:nvPr/>
        </p:nvSpPr>
        <p:spPr>
          <a:xfrm>
            <a:off x="4202993" y="1865376"/>
            <a:ext cx="746538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>
                <a:solidFill>
                  <a:schemeClr val="tx1"/>
                </a:solidFill>
                <a:latin typeface="Aptos"/>
              </a:rPr>
              <a:t>Campaign</a:t>
            </a:r>
            <a:endParaRPr lang="en-IN" sz="75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209" name="Rounded Rectangle 208"/>
          <p:cNvSpPr/>
          <p:nvPr/>
        </p:nvSpPr>
        <p:spPr>
          <a:xfrm>
            <a:off x="5006556" y="1865376"/>
            <a:ext cx="842872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>
                <a:solidFill>
                  <a:schemeClr val="tx1"/>
                </a:solidFill>
                <a:latin typeface="Aptos"/>
              </a:rPr>
              <a:t>Campaign Execution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210" name="Rounded Rectangle 209"/>
          <p:cNvSpPr/>
          <p:nvPr/>
        </p:nvSpPr>
        <p:spPr>
          <a:xfrm>
            <a:off x="3342693" y="2376677"/>
            <a:ext cx="779497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b="1">
                <a:solidFill>
                  <a:schemeClr val="tx1"/>
                </a:solidFill>
                <a:latin typeface="Aptos"/>
              </a:rPr>
              <a:t>Lead Nurturing</a:t>
            </a:r>
            <a:endParaRPr sz="750" b="1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211" name="Rounded Rectangle 210"/>
          <p:cNvSpPr/>
          <p:nvPr/>
        </p:nvSpPr>
        <p:spPr>
          <a:xfrm>
            <a:off x="4187562" y="2376677"/>
            <a:ext cx="746538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b="1">
                <a:solidFill>
                  <a:schemeClr val="tx1"/>
                </a:solidFill>
                <a:latin typeface="Aptos"/>
              </a:rPr>
              <a:t>Nurturing</a:t>
            </a:r>
            <a:endParaRPr sz="750" b="1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212" name="Rounded Rectangle 211"/>
          <p:cNvSpPr/>
          <p:nvPr/>
        </p:nvSpPr>
        <p:spPr>
          <a:xfrm>
            <a:off x="4991125" y="2376677"/>
            <a:ext cx="842872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b="1">
                <a:solidFill>
                  <a:schemeClr val="tx1"/>
                </a:solidFill>
                <a:latin typeface="Aptos"/>
              </a:rPr>
              <a:t>Nurture Workflows</a:t>
            </a:r>
            <a:endParaRPr sz="750" b="1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213" name="Rounded Rectangle 212"/>
          <p:cNvSpPr/>
          <p:nvPr/>
        </p:nvSpPr>
        <p:spPr>
          <a:xfrm>
            <a:off x="3343836" y="2885504"/>
            <a:ext cx="779497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>
                <a:solidFill>
                  <a:schemeClr val="tx1"/>
                </a:solidFill>
                <a:latin typeface="Aptos"/>
              </a:rPr>
              <a:t>Email Marketing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214" name="Rounded Rectangle 213"/>
          <p:cNvSpPr/>
          <p:nvPr/>
        </p:nvSpPr>
        <p:spPr>
          <a:xfrm>
            <a:off x="4188705" y="2885504"/>
            <a:ext cx="746538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>
                <a:solidFill>
                  <a:schemeClr val="tx1"/>
                </a:solidFill>
                <a:latin typeface="Aptos"/>
              </a:rPr>
              <a:t>Email Templates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215" name="Rounded Rectangle 214"/>
          <p:cNvSpPr/>
          <p:nvPr/>
        </p:nvSpPr>
        <p:spPr>
          <a:xfrm>
            <a:off x="4992268" y="2885504"/>
            <a:ext cx="842872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>
                <a:solidFill>
                  <a:schemeClr val="tx1"/>
                </a:solidFill>
                <a:latin typeface="Aptos"/>
              </a:rPr>
              <a:t>Email Automation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216" name="Rounded Rectangle 215"/>
          <p:cNvSpPr/>
          <p:nvPr/>
        </p:nvSpPr>
        <p:spPr>
          <a:xfrm>
            <a:off x="3343836" y="3358322"/>
            <a:ext cx="779497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>
                <a:solidFill>
                  <a:schemeClr val="tx1"/>
                </a:solidFill>
                <a:latin typeface="Aptos"/>
              </a:rPr>
              <a:t>Segmentation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217" name="Rounded Rectangle 216"/>
          <p:cNvSpPr/>
          <p:nvPr/>
        </p:nvSpPr>
        <p:spPr>
          <a:xfrm>
            <a:off x="4188705" y="3358322"/>
            <a:ext cx="746538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>
                <a:solidFill>
                  <a:schemeClr val="tx1"/>
                </a:solidFill>
                <a:latin typeface="Aptos"/>
              </a:rPr>
              <a:t>Segments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218" name="Rounded Rectangle 217"/>
          <p:cNvSpPr/>
          <p:nvPr/>
        </p:nvSpPr>
        <p:spPr>
          <a:xfrm>
            <a:off x="4992268" y="3358322"/>
            <a:ext cx="842872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>
                <a:solidFill>
                  <a:schemeClr val="tx1"/>
                </a:solidFill>
                <a:latin typeface="Aptos"/>
              </a:rPr>
              <a:t>Customer Segmentation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219" name="Rounded Rectangle 218"/>
          <p:cNvSpPr/>
          <p:nvPr/>
        </p:nvSpPr>
        <p:spPr>
          <a:xfrm>
            <a:off x="3347840" y="3827901"/>
            <a:ext cx="779497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>
                <a:solidFill>
                  <a:schemeClr val="tx1"/>
                </a:solidFill>
                <a:latin typeface="Aptos"/>
              </a:rPr>
              <a:t>Form &amp; Landing Page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220" name="Rounded Rectangle 219"/>
          <p:cNvSpPr/>
          <p:nvPr/>
        </p:nvSpPr>
        <p:spPr>
          <a:xfrm>
            <a:off x="4192709" y="3827901"/>
            <a:ext cx="746538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>
                <a:solidFill>
                  <a:schemeClr val="tx1"/>
                </a:solidFill>
                <a:latin typeface="Aptos"/>
              </a:rPr>
              <a:t>Forms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221" name="Rounded Rectangle 220"/>
          <p:cNvSpPr/>
          <p:nvPr/>
        </p:nvSpPr>
        <p:spPr>
          <a:xfrm>
            <a:off x="4996272" y="3827901"/>
            <a:ext cx="842872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>
                <a:solidFill>
                  <a:schemeClr val="tx1"/>
                </a:solidFill>
                <a:latin typeface="Aptos"/>
              </a:rPr>
              <a:t>Lead Capture Forms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222" name="Rounded Rectangle 221"/>
          <p:cNvSpPr/>
          <p:nvPr/>
        </p:nvSpPr>
        <p:spPr>
          <a:xfrm>
            <a:off x="3358124" y="4330818"/>
            <a:ext cx="779497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>
                <a:solidFill>
                  <a:schemeClr val="tx1"/>
                </a:solidFill>
                <a:latin typeface="Aptos"/>
              </a:rPr>
              <a:t>Marketing Analytics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223" name="Rounded Rectangle 222"/>
          <p:cNvSpPr/>
          <p:nvPr/>
        </p:nvSpPr>
        <p:spPr>
          <a:xfrm>
            <a:off x="4202993" y="4330818"/>
            <a:ext cx="746538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>
                <a:solidFill>
                  <a:schemeClr val="tx1"/>
                </a:solidFill>
                <a:latin typeface="Aptos"/>
              </a:rPr>
              <a:t>Analytics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224" name="Rounded Rectangle 223"/>
          <p:cNvSpPr/>
          <p:nvPr/>
        </p:nvSpPr>
        <p:spPr>
          <a:xfrm>
            <a:off x="5006556" y="4330818"/>
            <a:ext cx="842872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>
                <a:solidFill>
                  <a:schemeClr val="tx1"/>
                </a:solidFill>
                <a:latin typeface="Aptos"/>
              </a:rPr>
              <a:t>Campaign Performance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323806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05752" y="164592"/>
            <a:ext cx="11548872" cy="502920"/>
          </a:xfrm>
          <a:prstGeom prst="roundRect">
            <a:avLst/>
          </a:prstGeom>
          <a:solidFill>
            <a:srgbClr val="143669"/>
          </a:solidFill>
          <a:ln w="12700">
            <a:solidFill>
              <a:srgbClr val="143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 dirty="0">
                <a:solidFill>
                  <a:srgbClr val="FFFFFF"/>
                </a:solidFill>
                <a:latin typeface="Aptos"/>
              </a:rPr>
              <a:t>Core Platform Services &amp; Integration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4352" y="749808"/>
            <a:ext cx="110642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 dirty="0">
                <a:solidFill>
                  <a:srgbClr val="5F646E"/>
                </a:solidFill>
                <a:latin typeface="Aptos"/>
              </a:rPr>
              <a:t>Cross-cutting capabilities that support all business domains.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62113" y="1143000"/>
            <a:ext cx="2672904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F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3385541" y="1188530"/>
            <a:ext cx="2608899" cy="411480"/>
          </a:xfrm>
          <a:prstGeom prst="roundRect">
            <a:avLst/>
          </a:prstGeom>
          <a:solidFill>
            <a:srgbClr val="1F69BE"/>
          </a:solidFill>
          <a:ln w="12700">
            <a:solidFill>
              <a:srgbClr val="1F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smtClean="0">
                <a:solidFill>
                  <a:srgbClr val="FFFFFF"/>
                </a:solidFill>
                <a:latin typeface="Aptos"/>
              </a:rPr>
              <a:t>11</a:t>
            </a:r>
            <a:r>
              <a:rPr sz="1200" b="1" dirty="0" smtClean="0">
                <a:solidFill>
                  <a:srgbClr val="FFFFFF"/>
                </a:solidFill>
                <a:latin typeface="Aptos"/>
              </a:rPr>
              <a:t>. </a:t>
            </a:r>
            <a:r>
              <a:rPr lang="en-IN" sz="1200" b="1" dirty="0">
                <a:solidFill>
                  <a:srgbClr val="FFFFFF"/>
                </a:solidFill>
                <a:latin typeface="Aptos"/>
              </a:rPr>
              <a:t>Renewal Management</a:t>
            </a:r>
            <a:endParaRPr sz="12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333537" y="1673162"/>
            <a:ext cx="85953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288246"/>
                </a:solidFill>
                <a:latin typeface="Aptos"/>
              </a:rPr>
              <a:t>Module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93073" y="1673162"/>
            <a:ext cx="85953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69419B"/>
                </a:solidFill>
                <a:latin typeface="Aptos"/>
              </a:rPr>
              <a:t>Sub Module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52609" y="1673162"/>
            <a:ext cx="85953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EB7819"/>
                </a:solidFill>
                <a:latin typeface="Aptos"/>
              </a:rPr>
              <a:t>Feature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3775305" y="2139696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634841" y="2139696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775305" y="2615184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634841" y="2615184"/>
            <a:ext cx="27432" cy="0"/>
          </a:xfrm>
          <a:prstGeom prst="line">
            <a:avLst/>
          </a:prstGeom>
          <a:ln w="10160">
            <a:solidFill>
              <a:srgbClr val="5F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6070641" y="1143000"/>
            <a:ext cx="2621848" cy="5166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43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6070641" y="1188530"/>
            <a:ext cx="2621848" cy="411480"/>
          </a:xfrm>
          <a:prstGeom prst="roundRect">
            <a:avLst/>
          </a:prstGeom>
          <a:solidFill>
            <a:srgbClr val="143669"/>
          </a:solidFill>
          <a:ln w="12700">
            <a:solidFill>
              <a:srgbClr val="143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 smtClean="0">
                <a:solidFill>
                  <a:srgbClr val="FFFFFF"/>
                </a:solidFill>
                <a:latin typeface="Aptos"/>
              </a:rPr>
              <a:t>1</a:t>
            </a:r>
            <a:r>
              <a:rPr lang="en-GB" sz="1200" b="1" dirty="0" smtClean="0">
                <a:solidFill>
                  <a:srgbClr val="FFFFFF"/>
                </a:solidFill>
                <a:latin typeface="Aptos"/>
              </a:rPr>
              <a:t>2</a:t>
            </a:r>
            <a:r>
              <a:rPr sz="1200" b="1" dirty="0" smtClean="0">
                <a:solidFill>
                  <a:srgbClr val="FFFFFF"/>
                </a:solidFill>
                <a:latin typeface="Aptos"/>
              </a:rPr>
              <a:t>. </a:t>
            </a:r>
            <a:r>
              <a:rPr lang="en-IN" sz="1200" b="1" dirty="0">
                <a:solidFill>
                  <a:srgbClr val="FFFFFF"/>
                </a:solidFill>
                <a:latin typeface="Aptos"/>
              </a:rPr>
              <a:t>Customer Health</a:t>
            </a:r>
            <a:endParaRPr sz="12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964153" y="1669352"/>
            <a:ext cx="920495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 dirty="0">
                <a:solidFill>
                  <a:srgbClr val="288246"/>
                </a:solidFill>
                <a:latin typeface="Aptos"/>
              </a:rPr>
              <a:t>Module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84649" y="1655064"/>
            <a:ext cx="920495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69419B"/>
                </a:solidFill>
                <a:latin typeface="Aptos"/>
              </a:rPr>
              <a:t>Sub Module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05145" y="1655064"/>
            <a:ext cx="920495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EB7819"/>
                </a:solidFill>
                <a:latin typeface="Aptos"/>
              </a:rPr>
              <a:t>Feature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385542" y="2018729"/>
            <a:ext cx="832103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Contract Management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4245077" y="2018729"/>
            <a:ext cx="832103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Contracts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98" name="Rounded Rectangle 97"/>
          <p:cNvSpPr/>
          <p:nvPr/>
        </p:nvSpPr>
        <p:spPr>
          <a:xfrm>
            <a:off x="5104614" y="2018729"/>
            <a:ext cx="832103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Contract Lifecycle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3385542" y="2479739"/>
            <a:ext cx="832103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Subscription Renewal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4245077" y="2479739"/>
            <a:ext cx="832103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Renewal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01" name="Rounded Rectangle 100"/>
          <p:cNvSpPr/>
          <p:nvPr/>
        </p:nvSpPr>
        <p:spPr>
          <a:xfrm>
            <a:off x="5104614" y="2479739"/>
            <a:ext cx="832103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Renewal Processing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02" name="Rounded Rectangle 101"/>
          <p:cNvSpPr/>
          <p:nvPr/>
        </p:nvSpPr>
        <p:spPr>
          <a:xfrm>
            <a:off x="3384400" y="2969514"/>
            <a:ext cx="832103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Renewal Forecasting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4243935" y="2969514"/>
            <a:ext cx="832103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Forecast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04" name="Rounded Rectangle 103"/>
          <p:cNvSpPr/>
          <p:nvPr/>
        </p:nvSpPr>
        <p:spPr>
          <a:xfrm>
            <a:off x="5103472" y="2969514"/>
            <a:ext cx="832103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Renewal Forecast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05" name="Rounded Rectangle 104"/>
          <p:cNvSpPr/>
          <p:nvPr/>
        </p:nvSpPr>
        <p:spPr>
          <a:xfrm>
            <a:off x="3392401" y="3456620"/>
            <a:ext cx="832103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Renewal Notifications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06" name="Rounded Rectangle 105"/>
          <p:cNvSpPr/>
          <p:nvPr/>
        </p:nvSpPr>
        <p:spPr>
          <a:xfrm>
            <a:off x="4251936" y="3456620"/>
            <a:ext cx="832103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Notifications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5111473" y="3456620"/>
            <a:ext cx="832103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Renewal Alerts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08" name="Rounded Rectangle 107"/>
          <p:cNvSpPr/>
          <p:nvPr/>
        </p:nvSpPr>
        <p:spPr>
          <a:xfrm>
            <a:off x="6100361" y="2029778"/>
            <a:ext cx="832103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Health Scoring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09" name="Rounded Rectangle 108"/>
          <p:cNvSpPr/>
          <p:nvPr/>
        </p:nvSpPr>
        <p:spPr>
          <a:xfrm>
            <a:off x="6959896" y="2015490"/>
            <a:ext cx="832103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Health Score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10" name="Rounded Rectangle 109"/>
          <p:cNvSpPr/>
          <p:nvPr/>
        </p:nvSpPr>
        <p:spPr>
          <a:xfrm>
            <a:off x="7819433" y="2015490"/>
            <a:ext cx="832103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Customer Health Score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11" name="Rounded Rectangle 110"/>
          <p:cNvSpPr/>
          <p:nvPr/>
        </p:nvSpPr>
        <p:spPr>
          <a:xfrm>
            <a:off x="6099217" y="2505076"/>
            <a:ext cx="832103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Health Factors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6958752" y="2490788"/>
            <a:ext cx="832103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Health Factors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13" name="Rounded Rectangle 112"/>
          <p:cNvSpPr/>
          <p:nvPr/>
        </p:nvSpPr>
        <p:spPr>
          <a:xfrm>
            <a:off x="7818289" y="2490788"/>
            <a:ext cx="832103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Factor Evaluation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14" name="Rounded Rectangle 113"/>
          <p:cNvSpPr/>
          <p:nvPr/>
        </p:nvSpPr>
        <p:spPr>
          <a:xfrm>
            <a:off x="6099217" y="3006087"/>
            <a:ext cx="832103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Health Trends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15" name="Rounded Rectangle 114"/>
          <p:cNvSpPr/>
          <p:nvPr/>
        </p:nvSpPr>
        <p:spPr>
          <a:xfrm>
            <a:off x="6958752" y="2991799"/>
            <a:ext cx="832103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Health Trends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16" name="Rounded Rectangle 115"/>
          <p:cNvSpPr/>
          <p:nvPr/>
        </p:nvSpPr>
        <p:spPr>
          <a:xfrm>
            <a:off x="7818289" y="2991799"/>
            <a:ext cx="832103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Trend Analysis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17" name="Rounded Rectangle 116"/>
          <p:cNvSpPr/>
          <p:nvPr/>
        </p:nvSpPr>
        <p:spPr>
          <a:xfrm>
            <a:off x="6098075" y="3499484"/>
            <a:ext cx="832103" cy="420624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28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Health Alerts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18" name="Rounded Rectangle 117"/>
          <p:cNvSpPr/>
          <p:nvPr/>
        </p:nvSpPr>
        <p:spPr>
          <a:xfrm>
            <a:off x="6957610" y="3485196"/>
            <a:ext cx="832103" cy="420624"/>
          </a:xfrm>
          <a:prstGeom prst="roundRect">
            <a:avLst/>
          </a:prstGeom>
          <a:solidFill>
            <a:srgbClr val="F6F0FC"/>
          </a:solidFill>
          <a:ln w="12700">
            <a:solidFill>
              <a:srgbClr val="694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Alerts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119" name="Rounded Rectangle 118"/>
          <p:cNvSpPr/>
          <p:nvPr/>
        </p:nvSpPr>
        <p:spPr>
          <a:xfrm>
            <a:off x="7817147" y="3485196"/>
            <a:ext cx="832103" cy="420624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EB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dirty="0">
                <a:solidFill>
                  <a:schemeClr val="tx1"/>
                </a:solidFill>
                <a:latin typeface="Aptos"/>
              </a:rPr>
              <a:t>Health Alerts</a:t>
            </a:r>
            <a:endParaRPr sz="750" b="0" dirty="0">
              <a:solidFill>
                <a:schemeClr val="tx1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520378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58148" y="430709"/>
            <a:ext cx="293208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dirty="0"/>
              <a:t>Why should a business buy this CRM?</a:t>
            </a:r>
            <a:endParaRPr lang="en-IN" sz="1400" dirty="0"/>
          </a:p>
        </p:txBody>
      </p:sp>
      <p:sp>
        <p:nvSpPr>
          <p:cNvPr id="10" name="Rectangle 9"/>
          <p:cNvSpPr/>
          <p:nvPr/>
        </p:nvSpPr>
        <p:spPr>
          <a:xfrm>
            <a:off x="458148" y="853673"/>
            <a:ext cx="109650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 smtClean="0"/>
              <a:t>Isn't </a:t>
            </a:r>
            <a:r>
              <a:rPr lang="en-GB" sz="1400" b="1" dirty="0"/>
              <a:t>“because it has many modules.”</a:t>
            </a:r>
            <a:r>
              <a:rPr lang="en-GB" sz="1400" dirty="0"/>
              <a:t> </a:t>
            </a:r>
            <a:endParaRPr lang="en-GB" sz="1400" dirty="0" smtClean="0"/>
          </a:p>
          <a:p>
            <a:r>
              <a:rPr lang="en-GB" sz="1400" dirty="0" smtClean="0"/>
              <a:t>NO! because </a:t>
            </a:r>
            <a:r>
              <a:rPr lang="en-GB" sz="1400" dirty="0"/>
              <a:t>it wants better control over customers, sales, activities, service, and business decisions.</a:t>
            </a:r>
            <a:endParaRPr lang="en-IN" sz="1400" dirty="0"/>
          </a:p>
        </p:txBody>
      </p:sp>
      <p:sp>
        <p:nvSpPr>
          <p:cNvPr id="11" name="Rectangle 10"/>
          <p:cNvSpPr/>
          <p:nvPr/>
        </p:nvSpPr>
        <p:spPr>
          <a:xfrm>
            <a:off x="458148" y="1428663"/>
            <a:ext cx="541361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/>
              <a:t>WITHOUT CRM                         </a:t>
            </a:r>
            <a:r>
              <a:rPr lang="en-IN" sz="1400" dirty="0" smtClean="0"/>
              <a:t>		WITH </a:t>
            </a:r>
            <a:r>
              <a:rPr lang="en-IN" sz="1400" dirty="0"/>
              <a:t>CRM</a:t>
            </a:r>
          </a:p>
          <a:p>
            <a:r>
              <a:rPr lang="en-IN" sz="1400" dirty="0"/>
              <a:t>──────────────                      </a:t>
            </a:r>
            <a:r>
              <a:rPr lang="en-IN" sz="1400" dirty="0" smtClean="0"/>
              <a:t>	──────────────</a:t>
            </a:r>
            <a:endParaRPr lang="en-IN" sz="1400" dirty="0"/>
          </a:p>
          <a:p>
            <a:r>
              <a:rPr lang="en-IN" sz="1400" dirty="0"/>
              <a:t>Scattered customer data       </a:t>
            </a:r>
            <a:r>
              <a:rPr lang="en-IN" sz="1400" dirty="0" smtClean="0"/>
              <a:t>	→     </a:t>
            </a:r>
            <a:r>
              <a:rPr lang="en-IN" sz="1400" dirty="0"/>
              <a:t>Customer 360°</a:t>
            </a:r>
          </a:p>
          <a:p>
            <a:r>
              <a:rPr lang="en-IN" sz="1400" dirty="0"/>
              <a:t>Excel / spreadsheets          </a:t>
            </a:r>
            <a:r>
              <a:rPr lang="en-IN" sz="1400" dirty="0" smtClean="0"/>
              <a:t>	→     </a:t>
            </a:r>
            <a:r>
              <a:rPr lang="en-IN" sz="1400" dirty="0"/>
              <a:t>Centralized information</a:t>
            </a:r>
          </a:p>
          <a:p>
            <a:r>
              <a:rPr lang="en-IN" sz="1400" dirty="0"/>
              <a:t>Missed follow-ups             </a:t>
            </a:r>
            <a:r>
              <a:rPr lang="en-IN" sz="1400" dirty="0" smtClean="0"/>
              <a:t>		→     </a:t>
            </a:r>
            <a:r>
              <a:rPr lang="en-IN" sz="1400" dirty="0"/>
              <a:t>Activity &amp; reminders</a:t>
            </a:r>
          </a:p>
          <a:p>
            <a:r>
              <a:rPr lang="en-IN" sz="1400" dirty="0"/>
              <a:t>Leads get lost                </a:t>
            </a:r>
            <a:r>
              <a:rPr lang="en-IN" sz="1400" dirty="0" smtClean="0"/>
              <a:t>		→     </a:t>
            </a:r>
            <a:r>
              <a:rPr lang="en-IN" sz="1400" dirty="0"/>
              <a:t>Lead pipeline</a:t>
            </a:r>
          </a:p>
          <a:p>
            <a:r>
              <a:rPr lang="en-IN" sz="1400" dirty="0"/>
              <a:t>Poor sales visibility         </a:t>
            </a:r>
            <a:r>
              <a:rPr lang="en-IN" sz="1400" dirty="0" smtClean="0"/>
              <a:t>		→     </a:t>
            </a:r>
            <a:r>
              <a:rPr lang="en-IN" sz="1400" dirty="0"/>
              <a:t>Opportunity pipeline</a:t>
            </a:r>
          </a:p>
          <a:p>
            <a:r>
              <a:rPr lang="en-IN" sz="1400" dirty="0"/>
              <a:t>Individual knowledge          </a:t>
            </a:r>
            <a:r>
              <a:rPr lang="en-IN" sz="1400" dirty="0" smtClean="0"/>
              <a:t>	→     </a:t>
            </a:r>
            <a:r>
              <a:rPr lang="en-IN" sz="1400" dirty="0"/>
              <a:t>Shared organizational knowledge</a:t>
            </a:r>
          </a:p>
          <a:p>
            <a:r>
              <a:rPr lang="en-IN" sz="1400" dirty="0"/>
              <a:t>Manual reporting              </a:t>
            </a:r>
            <a:r>
              <a:rPr lang="en-IN" sz="1400" dirty="0" smtClean="0"/>
              <a:t>		→     </a:t>
            </a:r>
            <a:r>
              <a:rPr lang="en-IN" sz="1400" dirty="0"/>
              <a:t>Management dashboards</a:t>
            </a:r>
          </a:p>
          <a:p>
            <a:r>
              <a:rPr lang="en-IN" sz="1400" dirty="0"/>
              <a:t>Unclear ownership             </a:t>
            </a:r>
            <a:r>
              <a:rPr lang="en-IN" sz="1400" dirty="0" smtClean="0"/>
              <a:t>	→     </a:t>
            </a:r>
            <a:r>
              <a:rPr lang="en-IN" sz="1400" dirty="0"/>
              <a:t>User / role responsibility</a:t>
            </a:r>
          </a:p>
          <a:p>
            <a:r>
              <a:rPr lang="en-IN" sz="1400" dirty="0"/>
              <a:t>Limited control               </a:t>
            </a:r>
            <a:r>
              <a:rPr lang="en-IN" sz="1400" dirty="0" smtClean="0"/>
              <a:t>		→     </a:t>
            </a:r>
            <a:r>
              <a:rPr lang="en-IN" sz="1400" dirty="0"/>
              <a:t>Permissions &amp; audit</a:t>
            </a:r>
          </a:p>
          <a:p>
            <a:r>
              <a:rPr lang="en-IN" sz="1400" dirty="0"/>
              <a:t>Reactive customer service     </a:t>
            </a:r>
            <a:r>
              <a:rPr lang="en-IN" sz="1400" dirty="0" smtClean="0"/>
              <a:t>	→     </a:t>
            </a:r>
            <a:r>
              <a:rPr lang="en-IN" sz="1400" dirty="0"/>
              <a:t>Structured service management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8148" y="4285929"/>
            <a:ext cx="18020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/>
              <a:t>So why buy </a:t>
            </a:r>
            <a:r>
              <a:rPr lang="en-GB" sz="1400" b="1" i="1" dirty="0" smtClean="0"/>
              <a:t>our</a:t>
            </a:r>
            <a:r>
              <a:rPr lang="en-GB" sz="1400" b="1" dirty="0" smtClean="0"/>
              <a:t> </a:t>
            </a:r>
            <a:r>
              <a:rPr lang="en-GB" sz="1400" b="1" dirty="0"/>
              <a:t>CRM?</a:t>
            </a:r>
            <a:endParaRPr lang="en-IN" sz="1400" b="1" dirty="0"/>
          </a:p>
        </p:txBody>
      </p:sp>
      <p:sp>
        <p:nvSpPr>
          <p:cNvPr id="13" name="Rectangle 12"/>
          <p:cNvSpPr/>
          <p:nvPr/>
        </p:nvSpPr>
        <p:spPr>
          <a:xfrm>
            <a:off x="458148" y="4593706"/>
            <a:ext cx="228716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 smtClean="0"/>
              <a:t>Our </a:t>
            </a:r>
            <a:r>
              <a:rPr lang="en-GB" sz="1400" b="1" dirty="0"/>
              <a:t>business story could be:</a:t>
            </a:r>
            <a:endParaRPr lang="en-IN" sz="1400" b="1" dirty="0"/>
          </a:p>
        </p:txBody>
      </p:sp>
      <p:sp>
        <p:nvSpPr>
          <p:cNvPr id="14" name="Rectangle 13"/>
          <p:cNvSpPr/>
          <p:nvPr/>
        </p:nvSpPr>
        <p:spPr>
          <a:xfrm>
            <a:off x="458148" y="4890838"/>
            <a:ext cx="8795742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1. Acquire </a:t>
            </a:r>
            <a:r>
              <a:rPr lang="en-GB" sz="1400" b="1" dirty="0" smtClean="0"/>
              <a:t>customers: </a:t>
            </a:r>
            <a:r>
              <a:rPr lang="en-GB" sz="1400" dirty="0" smtClean="0"/>
              <a:t>Capture </a:t>
            </a:r>
            <a:r>
              <a:rPr lang="en-GB" sz="1400" dirty="0"/>
              <a:t>leads and turn prospects into opportunities.</a:t>
            </a:r>
          </a:p>
          <a:p>
            <a:r>
              <a:rPr lang="en-GB" sz="1400" b="1" dirty="0"/>
              <a:t>2. Convert </a:t>
            </a:r>
            <a:r>
              <a:rPr lang="en-GB" sz="1400" b="1" dirty="0" smtClean="0"/>
              <a:t>customers: </a:t>
            </a:r>
            <a:r>
              <a:rPr lang="en-GB" sz="1400" dirty="0" smtClean="0"/>
              <a:t>Give </a:t>
            </a:r>
            <a:r>
              <a:rPr lang="en-GB" sz="1400" dirty="0"/>
              <a:t>sales teams visibility into every opportunity and follow-up.</a:t>
            </a:r>
          </a:p>
          <a:p>
            <a:r>
              <a:rPr lang="en-GB" sz="1400" b="1" dirty="0"/>
              <a:t>3. Understand </a:t>
            </a:r>
            <a:r>
              <a:rPr lang="en-GB" sz="1400" b="1" dirty="0" smtClean="0"/>
              <a:t>customers: </a:t>
            </a:r>
            <a:r>
              <a:rPr lang="en-GB" sz="1400" dirty="0" smtClean="0"/>
              <a:t>Maintain </a:t>
            </a:r>
            <a:r>
              <a:rPr lang="en-GB" sz="1400" dirty="0"/>
              <a:t>a complete history of contacts, activities, transactions and interactions.</a:t>
            </a:r>
          </a:p>
          <a:p>
            <a:r>
              <a:rPr lang="en-GB" sz="1400" b="1" dirty="0"/>
              <a:t>4. Retain </a:t>
            </a:r>
            <a:r>
              <a:rPr lang="en-GB" sz="1400" b="1" dirty="0" smtClean="0"/>
              <a:t>customers: </a:t>
            </a:r>
            <a:r>
              <a:rPr lang="en-GB" sz="1400" dirty="0" smtClean="0"/>
              <a:t>Ensure </a:t>
            </a:r>
            <a:r>
              <a:rPr lang="en-GB" sz="1400" dirty="0"/>
              <a:t>commitments, service requests and follow-ups don't disappear.</a:t>
            </a:r>
          </a:p>
          <a:p>
            <a:r>
              <a:rPr lang="en-GB" sz="1400" b="1" dirty="0"/>
              <a:t>5. Grow </a:t>
            </a:r>
            <a:r>
              <a:rPr lang="en-GB" sz="1400" b="1" dirty="0" smtClean="0"/>
              <a:t>revenue: </a:t>
            </a:r>
            <a:r>
              <a:rPr lang="en-GB" sz="1400" dirty="0" smtClean="0"/>
              <a:t>Identify </a:t>
            </a:r>
            <a:r>
              <a:rPr lang="en-GB" sz="1400" dirty="0"/>
              <a:t>opportunities for repeat business, cross-selling and upselling.</a:t>
            </a:r>
          </a:p>
          <a:p>
            <a:r>
              <a:rPr lang="en-GB" sz="1400" b="1" dirty="0"/>
              <a:t>6. Control the </a:t>
            </a:r>
            <a:r>
              <a:rPr lang="en-GB" sz="1400" b="1" dirty="0" smtClean="0"/>
              <a:t>business: </a:t>
            </a:r>
            <a:r>
              <a:rPr lang="en-GB" sz="1400" dirty="0" smtClean="0"/>
              <a:t>Management </a:t>
            </a:r>
            <a:r>
              <a:rPr lang="en-GB" sz="1400" dirty="0"/>
              <a:t>can see pipeline, sales performance, customer activity and business KPIs.</a:t>
            </a:r>
          </a:p>
          <a:p>
            <a:r>
              <a:rPr lang="en-GB" sz="1400" b="1" dirty="0"/>
              <a:t>7. Protect business </a:t>
            </a:r>
            <a:r>
              <a:rPr lang="en-GB" sz="1400" b="1" dirty="0" smtClean="0"/>
              <a:t>information: </a:t>
            </a:r>
            <a:r>
              <a:rPr lang="en-GB" sz="1400" dirty="0" smtClean="0"/>
              <a:t>Roles</a:t>
            </a:r>
            <a:r>
              <a:rPr lang="en-GB" sz="1400" dirty="0"/>
              <a:t>, permissions, tenant isolation and audit controls prevent uncontrolled access.</a:t>
            </a:r>
          </a:p>
        </p:txBody>
      </p:sp>
    </p:spTree>
    <p:extLst>
      <p:ext uri="{BB962C8B-B14F-4D97-AF65-F5344CB8AC3E}">
        <p14:creationId xmlns:p14="http://schemas.microsoft.com/office/powerpoint/2010/main" val="598901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9137" y="812334"/>
            <a:ext cx="419576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/>
              <a:t> CUSTOMER 360°</a:t>
            </a:r>
          </a:p>
          <a:p>
            <a:r>
              <a:rPr lang="en-IN" sz="1200" dirty="0"/>
              <a:t>                              │</a:t>
            </a:r>
          </a:p>
          <a:p>
            <a:r>
              <a:rPr lang="en-IN" sz="1200" dirty="0"/>
              <a:t>        ┌─────────────────────┼─────────────────────┐</a:t>
            </a:r>
          </a:p>
          <a:p>
            <a:r>
              <a:rPr lang="en-IN" sz="1200" dirty="0"/>
              <a:t>        │                     │                     </a:t>
            </a:r>
            <a:r>
              <a:rPr lang="en-IN" sz="1200" dirty="0" smtClean="0"/>
              <a:t>│</a:t>
            </a:r>
            <a:endParaRPr lang="en-IN" sz="1200" dirty="0"/>
          </a:p>
          <a:p>
            <a:r>
              <a:rPr lang="en-IN" sz="1200" dirty="0"/>
              <a:t>      CRM                    </a:t>
            </a:r>
            <a:r>
              <a:rPr lang="en-IN" sz="1200" dirty="0" smtClean="0"/>
              <a:t>SALES                                 CUSTOMER SUCCESS</a:t>
            </a:r>
            <a:endParaRPr lang="en-IN" sz="1200" dirty="0"/>
          </a:p>
          <a:p>
            <a:r>
              <a:rPr lang="en-IN" sz="1200" dirty="0"/>
              <a:t>        │                     │                     │</a:t>
            </a:r>
          </a:p>
          <a:p>
            <a:r>
              <a:rPr lang="en-IN" sz="1200" dirty="0"/>
              <a:t>   Customer Profile      Opportunities          </a:t>
            </a:r>
            <a:r>
              <a:rPr lang="en-IN" sz="1200" dirty="0" smtClean="0"/>
              <a:t>  </a:t>
            </a:r>
            <a:r>
              <a:rPr lang="en-IN" sz="1200" dirty="0" smtClean="0"/>
              <a:t>   </a:t>
            </a:r>
            <a:r>
              <a:rPr lang="en-IN" sz="1200" dirty="0" err="1" smtClean="0"/>
              <a:t>Onboarding</a:t>
            </a:r>
            <a:endParaRPr lang="en-IN" sz="1200" dirty="0"/>
          </a:p>
          <a:p>
            <a:r>
              <a:rPr lang="en-IN" sz="1200" dirty="0"/>
              <a:t>   Contacts              </a:t>
            </a:r>
            <a:r>
              <a:rPr lang="en-IN" sz="1200" dirty="0" smtClean="0"/>
              <a:t>	CPQ </a:t>
            </a:r>
            <a:r>
              <a:rPr lang="en-IN" sz="1200" dirty="0"/>
              <a:t>/ Quotes            </a:t>
            </a:r>
            <a:r>
              <a:rPr lang="en-IN" sz="1200" dirty="0" smtClean="0"/>
              <a:t>   Health </a:t>
            </a:r>
            <a:r>
              <a:rPr lang="en-IN" sz="1200" dirty="0"/>
              <a:t>Score</a:t>
            </a:r>
          </a:p>
          <a:p>
            <a:r>
              <a:rPr lang="en-IN" sz="1200" dirty="0"/>
              <a:t>   Activities            </a:t>
            </a:r>
            <a:r>
              <a:rPr lang="en-IN" sz="1200" dirty="0" smtClean="0"/>
              <a:t>	Proposals                   </a:t>
            </a:r>
            <a:r>
              <a:rPr lang="en-IN" sz="1200" dirty="0" smtClean="0"/>
              <a:t>   Renewals</a:t>
            </a:r>
            <a:endParaRPr lang="en-IN" sz="1200" dirty="0"/>
          </a:p>
          <a:p>
            <a:r>
              <a:rPr lang="en-IN" sz="1200" dirty="0"/>
              <a:t>   Leads                 </a:t>
            </a:r>
            <a:r>
              <a:rPr lang="en-IN" sz="1200" dirty="0" smtClean="0"/>
              <a:t>	Orders                       </a:t>
            </a:r>
            <a:r>
              <a:rPr lang="en-IN" sz="1200" dirty="0" smtClean="0"/>
              <a:t>    Upsell</a:t>
            </a:r>
            <a:endParaRPr lang="en-IN" sz="1200" dirty="0"/>
          </a:p>
          <a:p>
            <a:r>
              <a:rPr lang="en-IN" sz="1200" dirty="0"/>
              <a:t>        │                     </a:t>
            </a:r>
            <a:r>
              <a:rPr lang="en-IN" sz="1200" dirty="0" smtClean="0"/>
              <a:t>	│                   		  </a:t>
            </a:r>
            <a:r>
              <a:rPr lang="en-IN" sz="1200" dirty="0"/>
              <a:t>│</a:t>
            </a:r>
          </a:p>
          <a:p>
            <a:r>
              <a:rPr lang="en-IN" sz="1200" dirty="0"/>
              <a:t>        └─────────────────────┼─────────────────────┘</a:t>
            </a:r>
          </a:p>
          <a:p>
            <a:r>
              <a:rPr lang="en-IN" sz="1200" dirty="0"/>
              <a:t>                              │</a:t>
            </a:r>
          </a:p>
          <a:p>
            <a:r>
              <a:rPr lang="en-IN" sz="1200" dirty="0"/>
              <a:t>        ┌─────────────────────┼─────────────────────┐</a:t>
            </a:r>
          </a:p>
          <a:p>
            <a:r>
              <a:rPr lang="en-IN" sz="1200" dirty="0"/>
              <a:t>        │                     │                     │</a:t>
            </a:r>
          </a:p>
          <a:p>
            <a:r>
              <a:rPr lang="en-IN" sz="1200" dirty="0"/>
              <a:t>     PROJECTS              SERVICE               FINANCE</a:t>
            </a:r>
          </a:p>
          <a:p>
            <a:r>
              <a:rPr lang="en-IN" sz="1200" dirty="0"/>
              <a:t>        │                     │                     </a:t>
            </a:r>
            <a:r>
              <a:rPr lang="en-IN" sz="1200" dirty="0" smtClean="0"/>
              <a:t>              │</a:t>
            </a:r>
            <a:endParaRPr lang="en-IN" sz="1200" dirty="0"/>
          </a:p>
          <a:p>
            <a:r>
              <a:rPr lang="en-IN" sz="1200" dirty="0"/>
              <a:t>   Projects               Tickets                Invoices</a:t>
            </a:r>
          </a:p>
          <a:p>
            <a:r>
              <a:rPr lang="en-IN" sz="1200" dirty="0"/>
              <a:t>   Tasks                  </a:t>
            </a:r>
            <a:r>
              <a:rPr lang="en-IN" sz="1200" dirty="0" smtClean="0"/>
              <a:t>   SLA                     </a:t>
            </a:r>
            <a:r>
              <a:rPr lang="en-IN" sz="1200" dirty="0"/>
              <a:t>Payments</a:t>
            </a:r>
          </a:p>
          <a:p>
            <a:r>
              <a:rPr lang="en-IN" sz="1200" dirty="0"/>
              <a:t>   Milestones           </a:t>
            </a:r>
            <a:r>
              <a:rPr lang="en-IN" sz="1200" dirty="0" smtClean="0"/>
              <a:t>Knowledge        Outstanding</a:t>
            </a:r>
            <a:endParaRPr lang="en-IN" sz="1200" dirty="0"/>
          </a:p>
          <a:p>
            <a:r>
              <a:rPr lang="en-IN" sz="1200" dirty="0"/>
              <a:t>   Timesheets</a:t>
            </a:r>
          </a:p>
          <a:p>
            <a:r>
              <a:rPr lang="en-IN" sz="1200" dirty="0"/>
              <a:t>        │                    </a:t>
            </a:r>
            <a:r>
              <a:rPr lang="en-IN" sz="1200" dirty="0" smtClean="0"/>
              <a:t>          </a:t>
            </a:r>
            <a:r>
              <a:rPr lang="en-IN" sz="1200" dirty="0"/>
              <a:t>│                    </a:t>
            </a:r>
            <a:r>
              <a:rPr lang="en-IN" sz="1200" dirty="0" smtClean="0"/>
              <a:t>         </a:t>
            </a:r>
            <a:r>
              <a:rPr lang="en-IN" sz="1200" dirty="0"/>
              <a:t>│</a:t>
            </a:r>
          </a:p>
          <a:p>
            <a:r>
              <a:rPr lang="en-IN" sz="1200" dirty="0"/>
              <a:t>        └─────────────────────┼─────────────────────┘</a:t>
            </a:r>
          </a:p>
          <a:p>
            <a:r>
              <a:rPr lang="en-IN" sz="1200" dirty="0"/>
              <a:t>                              </a:t>
            </a:r>
            <a:r>
              <a:rPr lang="en-IN" sz="1200" dirty="0" smtClean="0"/>
              <a:t>                          ↓</a:t>
            </a:r>
            <a:endParaRPr lang="en-IN" sz="1200" dirty="0"/>
          </a:p>
        </p:txBody>
      </p:sp>
      <p:sp>
        <p:nvSpPr>
          <p:cNvPr id="3" name="Rectangle 2"/>
          <p:cNvSpPr/>
          <p:nvPr/>
        </p:nvSpPr>
        <p:spPr>
          <a:xfrm>
            <a:off x="4771479" y="443002"/>
            <a:ext cx="17535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CUSTOMER 360°</a:t>
            </a:r>
          </a:p>
        </p:txBody>
      </p:sp>
      <p:sp>
        <p:nvSpPr>
          <p:cNvPr id="4" name="Rectangle 3"/>
          <p:cNvSpPr/>
          <p:nvPr/>
        </p:nvSpPr>
        <p:spPr>
          <a:xfrm>
            <a:off x="5939249" y="1977569"/>
            <a:ext cx="290471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/>
              <a:t> </a:t>
            </a:r>
            <a:r>
              <a:rPr lang="en-IN" sz="1200" dirty="0" smtClean="0"/>
              <a:t>       </a:t>
            </a:r>
            <a:r>
              <a:rPr lang="en-IN" sz="1200" dirty="0"/>
              <a:t>CUSTOMER 360    </a:t>
            </a:r>
          </a:p>
          <a:p>
            <a:r>
              <a:rPr lang="en-IN" sz="1200" dirty="0" smtClean="0"/>
              <a:t>                    Customer </a:t>
            </a:r>
            <a:r>
              <a:rPr lang="en-IN" sz="1200" dirty="0"/>
              <a:t>Profile  </a:t>
            </a:r>
          </a:p>
          <a:p>
            <a:r>
              <a:rPr lang="en-IN" sz="1200" dirty="0"/>
              <a:t>                    </a:t>
            </a:r>
            <a:r>
              <a:rPr lang="en-IN" sz="1200" dirty="0" smtClean="0"/>
              <a:t>Revenue           </a:t>
            </a:r>
            <a:endParaRPr lang="en-IN" sz="1200" dirty="0"/>
          </a:p>
          <a:p>
            <a:r>
              <a:rPr lang="en-IN" sz="1200" dirty="0"/>
              <a:t>                    </a:t>
            </a:r>
            <a:r>
              <a:rPr lang="en-IN" sz="1200" dirty="0" smtClean="0"/>
              <a:t>Engagement        </a:t>
            </a:r>
            <a:endParaRPr lang="en-IN" sz="1200" dirty="0"/>
          </a:p>
          <a:p>
            <a:r>
              <a:rPr lang="en-IN" sz="1200" dirty="0"/>
              <a:t>                    </a:t>
            </a:r>
            <a:r>
              <a:rPr lang="en-IN" sz="1200" dirty="0" smtClean="0"/>
              <a:t>Health            </a:t>
            </a:r>
            <a:endParaRPr lang="en-IN" sz="1200" dirty="0"/>
          </a:p>
          <a:p>
            <a:r>
              <a:rPr lang="en-IN" sz="1200" dirty="0"/>
              <a:t>                    </a:t>
            </a:r>
            <a:r>
              <a:rPr lang="en-IN" sz="1200" dirty="0" smtClean="0"/>
              <a:t>Service           </a:t>
            </a:r>
            <a:endParaRPr lang="en-IN" sz="1200" dirty="0"/>
          </a:p>
          <a:p>
            <a:r>
              <a:rPr lang="en-IN" sz="1200" dirty="0"/>
              <a:t>                    </a:t>
            </a:r>
            <a:r>
              <a:rPr lang="en-IN" sz="1200" dirty="0" smtClean="0"/>
              <a:t>Projects          </a:t>
            </a:r>
            <a:endParaRPr lang="en-IN" sz="1200" dirty="0"/>
          </a:p>
          <a:p>
            <a:r>
              <a:rPr lang="en-IN" sz="1200" dirty="0"/>
              <a:t>                    </a:t>
            </a:r>
            <a:r>
              <a:rPr lang="en-IN" sz="1200" dirty="0" smtClean="0"/>
              <a:t>Financials        </a:t>
            </a:r>
            <a:endParaRPr lang="en-IN" sz="1200" dirty="0"/>
          </a:p>
          <a:p>
            <a:r>
              <a:rPr lang="en-IN" sz="1200" dirty="0"/>
              <a:t>                    </a:t>
            </a:r>
            <a:r>
              <a:rPr lang="en-IN" sz="1200" dirty="0" smtClean="0"/>
              <a:t>Contracts         </a:t>
            </a:r>
            <a:endParaRPr lang="en-IN" sz="1200" dirty="0"/>
          </a:p>
          <a:p>
            <a:r>
              <a:rPr lang="en-IN" sz="1200" dirty="0"/>
              <a:t>                    </a:t>
            </a:r>
            <a:r>
              <a:rPr lang="en-IN" sz="1200" dirty="0" smtClean="0"/>
              <a:t>Renewals          </a:t>
            </a:r>
            <a:endParaRPr lang="en-IN" sz="1200" dirty="0"/>
          </a:p>
          <a:p>
            <a:r>
              <a:rPr lang="en-IN" sz="1200" dirty="0"/>
              <a:t>                    </a:t>
            </a:r>
            <a:r>
              <a:rPr lang="en-IN" sz="1200" dirty="0" smtClean="0"/>
              <a:t>Opportunities     </a:t>
            </a:r>
            <a:endParaRPr lang="en-IN" sz="1200" dirty="0"/>
          </a:p>
          <a:p>
            <a:r>
              <a:rPr lang="en-IN" sz="1200" dirty="0"/>
              <a:t>                    └───────────────────┘</a:t>
            </a:r>
          </a:p>
          <a:p>
            <a:r>
              <a:rPr lang="en-IN" sz="1200" dirty="0"/>
              <a:t>                              │</a:t>
            </a:r>
          </a:p>
          <a:p>
            <a:r>
              <a:rPr lang="en-IN" sz="1200" dirty="0"/>
              <a:t>                              ↓</a:t>
            </a:r>
          </a:p>
          <a:p>
            <a:r>
              <a:rPr lang="en-IN" sz="1200" dirty="0"/>
              <a:t>                       AI / Analytics</a:t>
            </a:r>
          </a:p>
          <a:p>
            <a:r>
              <a:rPr lang="en-IN" sz="1200" dirty="0"/>
              <a:t>                              │</a:t>
            </a:r>
          </a:p>
          <a:p>
            <a:r>
              <a:rPr lang="en-IN" sz="1200" dirty="0"/>
              <a:t>                ┌─────────────┴─────────────┐</a:t>
            </a:r>
          </a:p>
          <a:p>
            <a:r>
              <a:rPr lang="en-IN" sz="1200" dirty="0"/>
              <a:t>                ↓                           </a:t>
            </a:r>
            <a:r>
              <a:rPr lang="en-IN" sz="1200" dirty="0" smtClean="0"/>
              <a:t>	         ↓</a:t>
            </a:r>
            <a:endParaRPr lang="en-IN" sz="1200" dirty="0"/>
          </a:p>
          <a:p>
            <a:r>
              <a:rPr lang="en-IN" sz="1200" dirty="0"/>
              <a:t>          Next Best Action             Risk / Churn</a:t>
            </a:r>
          </a:p>
          <a:p>
            <a:r>
              <a:rPr lang="en-IN" sz="1200" dirty="0"/>
              <a:t>          Recommendations              Prediction</a:t>
            </a:r>
          </a:p>
        </p:txBody>
      </p:sp>
      <p:cxnSp>
        <p:nvCxnSpPr>
          <p:cNvPr id="6" name="Elbow Connector 5"/>
          <p:cNvCxnSpPr>
            <a:stCxn id="2" idx="2"/>
          </p:cNvCxnSpPr>
          <p:nvPr/>
        </p:nvCxnSpPr>
        <p:spPr>
          <a:xfrm rot="5400000" flipH="1" flipV="1">
            <a:off x="2861902" y="2097789"/>
            <a:ext cx="3193977" cy="3283744"/>
          </a:xfrm>
          <a:prstGeom prst="bentConnector4">
            <a:avLst>
              <a:gd name="adj1" fmla="val -7157"/>
              <a:gd name="adj2" fmla="val 81943"/>
            </a:avLst>
          </a:prstGeom>
          <a:ln w="3175" cap="sq">
            <a:bevel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843963" y="1269982"/>
            <a:ext cx="3100387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/>
              <a:t> </a:t>
            </a:r>
            <a:r>
              <a:rPr lang="en-IN" sz="1200" dirty="0" smtClean="0"/>
              <a:t>                          CUSTOMER </a:t>
            </a:r>
            <a:r>
              <a:rPr lang="en-IN" sz="1200" dirty="0"/>
              <a:t>360</a:t>
            </a:r>
          </a:p>
          <a:p>
            <a:r>
              <a:rPr lang="en-IN" sz="1200" dirty="0"/>
              <a:t>                      </a:t>
            </a:r>
            <a:r>
              <a:rPr lang="en-IN" sz="1200" dirty="0" smtClean="0"/>
              <a:t>                    │</a:t>
            </a:r>
            <a:endParaRPr lang="en-IN" sz="1200" dirty="0"/>
          </a:p>
          <a:p>
            <a:r>
              <a:rPr lang="en-IN" sz="1200" dirty="0"/>
              <a:t>     ┌────────────────┼────────────────┐</a:t>
            </a:r>
          </a:p>
          <a:p>
            <a:r>
              <a:rPr lang="en-IN" sz="1200" dirty="0"/>
              <a:t>     ↓                ↓                ↓</a:t>
            </a:r>
          </a:p>
          <a:p>
            <a:r>
              <a:rPr lang="en-IN" sz="1200" dirty="0"/>
              <a:t>     CRM             SALES         CUSTOMER SUCCESS</a:t>
            </a:r>
          </a:p>
          <a:p>
            <a:r>
              <a:rPr lang="en-IN" sz="1200" dirty="0"/>
              <a:t>     ↓                ↓                </a:t>
            </a:r>
            <a:r>
              <a:rPr lang="en-IN" sz="1200" dirty="0" smtClean="0"/>
              <a:t>        ↓</a:t>
            </a:r>
            <a:endParaRPr lang="en-IN" sz="1200" dirty="0"/>
          </a:p>
          <a:p>
            <a:r>
              <a:rPr lang="en-IN" sz="1200" dirty="0"/>
              <a:t>   Leads           CPQ/Quote       </a:t>
            </a:r>
            <a:r>
              <a:rPr lang="en-IN" sz="1200" dirty="0" smtClean="0"/>
              <a:t>Health</a:t>
            </a:r>
            <a:endParaRPr lang="en-IN" sz="1200" dirty="0"/>
          </a:p>
          <a:p>
            <a:r>
              <a:rPr lang="en-IN" sz="1200" dirty="0"/>
              <a:t>   Customer     </a:t>
            </a:r>
            <a:r>
              <a:rPr lang="en-IN" sz="1200" dirty="0" smtClean="0"/>
              <a:t>Orders            Renewal</a:t>
            </a:r>
            <a:endParaRPr lang="en-IN" sz="1200" dirty="0"/>
          </a:p>
          <a:p>
            <a:r>
              <a:rPr lang="en-IN" sz="1200" dirty="0"/>
              <a:t>   Activities      Revenue        </a:t>
            </a:r>
            <a:r>
              <a:rPr lang="en-IN" sz="1200" dirty="0" smtClean="0"/>
              <a:t>    </a:t>
            </a:r>
            <a:r>
              <a:rPr lang="en-IN" sz="1200" dirty="0"/>
              <a:t>Upsell</a:t>
            </a:r>
          </a:p>
          <a:p>
            <a:r>
              <a:rPr lang="en-IN" sz="1200" dirty="0"/>
              <a:t>     │                │                │</a:t>
            </a:r>
          </a:p>
          <a:p>
            <a:r>
              <a:rPr lang="en-IN" sz="1200" dirty="0"/>
              <a:t>     └────────────────┼────────────────┘</a:t>
            </a:r>
          </a:p>
          <a:p>
            <a:r>
              <a:rPr lang="en-IN" sz="1200" dirty="0"/>
              <a:t>                      ↓</a:t>
            </a:r>
          </a:p>
          <a:p>
            <a:r>
              <a:rPr lang="en-IN" sz="1200" dirty="0"/>
              <a:t>                 PROJECTS</a:t>
            </a:r>
          </a:p>
          <a:p>
            <a:r>
              <a:rPr lang="en-IN" sz="1200" dirty="0"/>
              <a:t>                      ↓</a:t>
            </a:r>
          </a:p>
          <a:p>
            <a:r>
              <a:rPr lang="en-IN" sz="1200" dirty="0"/>
              <a:t>                  SERVICE</a:t>
            </a:r>
          </a:p>
          <a:p>
            <a:r>
              <a:rPr lang="en-IN" sz="1200" dirty="0"/>
              <a:t>                      ↓</a:t>
            </a:r>
          </a:p>
          <a:p>
            <a:r>
              <a:rPr lang="en-IN" sz="1200" dirty="0"/>
              <a:t>                  FINANCE</a:t>
            </a:r>
          </a:p>
          <a:p>
            <a:r>
              <a:rPr lang="en-IN" sz="1200" dirty="0"/>
              <a:t>                      ↓</a:t>
            </a:r>
          </a:p>
          <a:p>
            <a:r>
              <a:rPr lang="en-IN" sz="1200" dirty="0"/>
              <a:t>              Unified Customer Data</a:t>
            </a:r>
          </a:p>
        </p:txBody>
      </p:sp>
    </p:spTree>
    <p:extLst>
      <p:ext uri="{BB962C8B-B14F-4D97-AF65-F5344CB8AC3E}">
        <p14:creationId xmlns:p14="http://schemas.microsoft.com/office/powerpoint/2010/main" val="4073508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905862" y="356016"/>
            <a:ext cx="21396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b="1" dirty="0" smtClean="0"/>
              <a:t>CRM ARCHITECTURE</a:t>
            </a:r>
            <a:endParaRPr lang="en-IN" b="1" dirty="0"/>
          </a:p>
        </p:txBody>
      </p:sp>
      <p:sp>
        <p:nvSpPr>
          <p:cNvPr id="5" name="Rectangle 4"/>
          <p:cNvSpPr/>
          <p:nvPr/>
        </p:nvSpPr>
        <p:spPr>
          <a:xfrm>
            <a:off x="3978480" y="725348"/>
            <a:ext cx="6297634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100" dirty="0"/>
              <a:t> </a:t>
            </a:r>
            <a:r>
              <a:rPr lang="en-IN" sz="1100" dirty="0" smtClean="0"/>
              <a:t>                                       CRM PLATFORM</a:t>
            </a:r>
            <a:endParaRPr lang="en-IN" sz="1100" dirty="0"/>
          </a:p>
          <a:p>
            <a:r>
              <a:rPr lang="en-IN" sz="1100" dirty="0"/>
              <a:t> ┌───────────────────────┼────────────────────────┐</a:t>
            </a:r>
          </a:p>
          <a:p>
            <a:r>
              <a:rPr lang="en-IN" sz="1100" dirty="0"/>
              <a:t> │                       </a:t>
            </a:r>
            <a:r>
              <a:rPr lang="en-IN" sz="1100" dirty="0" smtClean="0"/>
              <a:t>		           │                                                     </a:t>
            </a:r>
            <a:r>
              <a:rPr lang="en-IN" sz="1100" dirty="0"/>
              <a:t>│</a:t>
            </a:r>
          </a:p>
          <a:p>
            <a:r>
              <a:rPr lang="en-IN" sz="1100" dirty="0"/>
              <a:t> ▼                       </a:t>
            </a:r>
            <a:r>
              <a:rPr lang="en-IN" sz="1100" dirty="0" smtClean="0"/>
              <a:t>                         ▼                                                  </a:t>
            </a:r>
            <a:r>
              <a:rPr lang="en-IN" sz="1100" dirty="0"/>
              <a:t>▼</a:t>
            </a:r>
          </a:p>
          <a:p>
            <a:r>
              <a:rPr lang="en-IN" sz="1100" dirty="0"/>
              <a:t>FOUNDATION          </a:t>
            </a:r>
            <a:r>
              <a:rPr lang="en-IN" sz="1100" dirty="0" smtClean="0"/>
              <a:t>      BUSINESS </a:t>
            </a:r>
            <a:r>
              <a:rPr lang="en-IN" sz="1100" dirty="0"/>
              <a:t>CORE           </a:t>
            </a:r>
            <a:r>
              <a:rPr lang="en-IN" sz="1100" dirty="0" smtClean="0"/>
              <a:t>                 INTELLIGENCE</a:t>
            </a:r>
            <a:endParaRPr lang="en-IN" sz="1100" dirty="0"/>
          </a:p>
          <a:p>
            <a:r>
              <a:rPr lang="en-IN" sz="1100" dirty="0"/>
              <a:t> │                       </a:t>
            </a:r>
            <a:r>
              <a:rPr lang="en-IN" sz="1100" dirty="0" smtClean="0"/>
              <a:t>                        │                                                        │</a:t>
            </a:r>
            <a:endParaRPr lang="en-IN" sz="1100" dirty="0"/>
          </a:p>
          <a:p>
            <a:r>
              <a:rPr lang="en-IN" sz="1100" dirty="0"/>
              <a:t>Tenant                 </a:t>
            </a:r>
            <a:r>
              <a:rPr lang="en-IN" sz="1100" dirty="0" smtClean="0"/>
              <a:t>                 </a:t>
            </a:r>
            <a:r>
              <a:rPr lang="en-IN" sz="1100" dirty="0"/>
              <a:t>CRM                     </a:t>
            </a:r>
            <a:r>
              <a:rPr lang="en-IN" sz="1100" dirty="0" smtClean="0"/>
              <a:t>                                 AI</a:t>
            </a:r>
            <a:endParaRPr lang="en-IN" sz="1100" dirty="0"/>
          </a:p>
          <a:p>
            <a:r>
              <a:rPr lang="en-IN" sz="1100" dirty="0"/>
              <a:t>Edition                 </a:t>
            </a:r>
            <a:r>
              <a:rPr lang="en-IN" sz="1100" dirty="0" smtClean="0"/>
              <a:t>                 Sales                                              AI </a:t>
            </a:r>
            <a:r>
              <a:rPr lang="en-IN" sz="1100" dirty="0"/>
              <a:t>Agents</a:t>
            </a:r>
          </a:p>
          <a:p>
            <a:r>
              <a:rPr lang="en-IN" sz="1100" dirty="0"/>
              <a:t>Subscription            </a:t>
            </a:r>
            <a:r>
              <a:rPr lang="en-IN" sz="1100" dirty="0" smtClean="0"/>
              <a:t>          Projects                                           </a:t>
            </a:r>
            <a:r>
              <a:rPr lang="en-IN" sz="1100" dirty="0"/>
              <a:t>Prediction</a:t>
            </a:r>
          </a:p>
          <a:p>
            <a:r>
              <a:rPr lang="en-IN" sz="1100" dirty="0"/>
              <a:t>Organization            </a:t>
            </a:r>
            <a:r>
              <a:rPr lang="en-IN" sz="1100" dirty="0" smtClean="0"/>
              <a:t>          Finance                                     Recommendations</a:t>
            </a:r>
            <a:endParaRPr lang="en-IN" sz="1100" dirty="0"/>
          </a:p>
          <a:p>
            <a:r>
              <a:rPr lang="en-IN" sz="1100" dirty="0"/>
              <a:t>RBAC                    </a:t>
            </a:r>
            <a:r>
              <a:rPr lang="en-IN" sz="1100" dirty="0" smtClean="0"/>
              <a:t>               Service                                            Forecasting</a:t>
            </a:r>
            <a:endParaRPr lang="en-IN" sz="1100" dirty="0"/>
          </a:p>
          <a:p>
            <a:r>
              <a:rPr lang="en-IN" sz="1100" dirty="0"/>
              <a:t> │                       </a:t>
            </a:r>
            <a:r>
              <a:rPr lang="en-IN" sz="1100" dirty="0" smtClean="0"/>
              <a:t>                        │                                                         │</a:t>
            </a:r>
            <a:endParaRPr lang="en-IN" sz="1100" dirty="0"/>
          </a:p>
          <a:p>
            <a:r>
              <a:rPr lang="en-IN" sz="1100" dirty="0"/>
              <a:t> └───────────────────────┼────────────────────────┘</a:t>
            </a:r>
          </a:p>
          <a:p>
            <a:pPr lvl="2"/>
            <a:r>
              <a:rPr lang="en-IN" sz="1100" dirty="0"/>
              <a:t>                         │</a:t>
            </a:r>
          </a:p>
          <a:p>
            <a:pPr lvl="2"/>
            <a:r>
              <a:rPr lang="en-IN" sz="1100" dirty="0"/>
              <a:t>            </a:t>
            </a:r>
            <a:r>
              <a:rPr lang="en-IN" sz="1100" dirty="0" smtClean="0"/>
              <a:t> </a:t>
            </a:r>
            <a:r>
              <a:rPr lang="en-IN" sz="1100" dirty="0"/>
              <a:t>PLATFORM SERVICES</a:t>
            </a:r>
          </a:p>
          <a:p>
            <a:pPr lvl="2"/>
            <a:r>
              <a:rPr lang="en-IN" sz="1100" dirty="0"/>
              <a:t>                         │</a:t>
            </a:r>
          </a:p>
          <a:p>
            <a:pPr lvl="2"/>
            <a:r>
              <a:rPr lang="en-IN" sz="1100" dirty="0"/>
              <a:t>    </a:t>
            </a:r>
            <a:r>
              <a:rPr lang="en-IN" sz="1100" dirty="0" smtClean="0"/>
              <a:t> </a:t>
            </a:r>
            <a:r>
              <a:rPr lang="en-IN" sz="1100" dirty="0"/>
              <a:t>Workflow • Rules • Notifications</a:t>
            </a:r>
          </a:p>
          <a:p>
            <a:pPr lvl="2"/>
            <a:r>
              <a:rPr lang="en-IN" sz="1100" dirty="0"/>
              <a:t>     </a:t>
            </a:r>
            <a:r>
              <a:rPr lang="en-IN" sz="1100" dirty="0" smtClean="0"/>
              <a:t>Documents </a:t>
            </a:r>
            <a:r>
              <a:rPr lang="en-IN" sz="1100" dirty="0"/>
              <a:t>• Reporting • Audit</a:t>
            </a:r>
          </a:p>
          <a:p>
            <a:pPr lvl="2"/>
            <a:r>
              <a:rPr lang="en-IN" sz="1100" dirty="0"/>
              <a:t>                         │</a:t>
            </a:r>
          </a:p>
          <a:p>
            <a:pPr lvl="2"/>
            <a:r>
              <a:rPr lang="en-IN" sz="1100" dirty="0"/>
              <a:t>                         ▼</a:t>
            </a:r>
          </a:p>
          <a:p>
            <a:pPr lvl="2"/>
            <a:r>
              <a:rPr lang="en-IN" sz="1100" dirty="0"/>
              <a:t>            </a:t>
            </a:r>
            <a:r>
              <a:rPr lang="en-IN" sz="1100" dirty="0" smtClean="0"/>
              <a:t>ENGAGEMENT</a:t>
            </a:r>
            <a:endParaRPr lang="en-IN" sz="1100" dirty="0"/>
          </a:p>
          <a:p>
            <a:pPr lvl="2"/>
            <a:r>
              <a:rPr lang="en-IN" sz="1100" dirty="0"/>
              <a:t>                         │</a:t>
            </a:r>
          </a:p>
          <a:p>
            <a:pPr lvl="2"/>
            <a:r>
              <a:rPr lang="en-IN" sz="1100" dirty="0"/>
              <a:t>    </a:t>
            </a:r>
            <a:r>
              <a:rPr lang="en-IN" sz="1100" dirty="0" smtClean="0"/>
              <a:t> Email • </a:t>
            </a:r>
            <a:r>
              <a:rPr lang="en-IN" sz="1100" dirty="0"/>
              <a:t>WhatsApp • SMS • Chat</a:t>
            </a:r>
          </a:p>
          <a:p>
            <a:pPr lvl="2"/>
            <a:r>
              <a:rPr lang="en-IN" sz="1100" dirty="0"/>
              <a:t>                         │</a:t>
            </a:r>
          </a:p>
          <a:p>
            <a:pPr lvl="2"/>
            <a:r>
              <a:rPr lang="en-IN" sz="1100" dirty="0"/>
              <a:t>                         ▼</a:t>
            </a:r>
          </a:p>
          <a:p>
            <a:pPr lvl="2"/>
            <a:r>
              <a:rPr lang="en-IN" sz="1100" dirty="0"/>
              <a:t>             </a:t>
            </a:r>
            <a:r>
              <a:rPr lang="en-IN" sz="1100" dirty="0" smtClean="0"/>
              <a:t>CUSTOMER </a:t>
            </a:r>
            <a:r>
              <a:rPr lang="en-IN" sz="1100" dirty="0"/>
              <a:t>360</a:t>
            </a:r>
          </a:p>
          <a:p>
            <a:pPr lvl="2"/>
            <a:r>
              <a:rPr lang="en-IN" sz="1100" dirty="0"/>
              <a:t>                         │</a:t>
            </a:r>
          </a:p>
          <a:p>
            <a:pPr lvl="2"/>
            <a:r>
              <a:rPr lang="en-IN" sz="1100" dirty="0"/>
              <a:t>                         ▼</a:t>
            </a:r>
          </a:p>
          <a:p>
            <a:pPr lvl="2"/>
            <a:r>
              <a:rPr lang="en-IN" sz="1100" dirty="0"/>
              <a:t>           </a:t>
            </a:r>
            <a:r>
              <a:rPr lang="en-IN" sz="1100" dirty="0" smtClean="0"/>
              <a:t>CUSTOMER </a:t>
            </a:r>
            <a:r>
              <a:rPr lang="en-IN" sz="1100" dirty="0"/>
              <a:t>PORTAL</a:t>
            </a:r>
          </a:p>
          <a:p>
            <a:pPr lvl="2"/>
            <a:r>
              <a:rPr lang="en-IN" sz="1100" dirty="0"/>
              <a:t>                         │</a:t>
            </a:r>
          </a:p>
          <a:p>
            <a:pPr lvl="2"/>
            <a:r>
              <a:rPr lang="en-IN" sz="1100" dirty="0"/>
              <a:t>                         ▼</a:t>
            </a:r>
          </a:p>
          <a:p>
            <a:pPr lvl="2"/>
            <a:r>
              <a:rPr lang="en-IN" sz="1100" dirty="0"/>
              <a:t>  </a:t>
            </a:r>
            <a:r>
              <a:rPr lang="en-IN" sz="1100" dirty="0" smtClean="0"/>
              <a:t>  </a:t>
            </a:r>
            <a:r>
              <a:rPr lang="en-IN" sz="1100" dirty="0"/>
              <a:t>CPQ (Configure, Price, </a:t>
            </a:r>
            <a:r>
              <a:rPr lang="en-IN" sz="1100" dirty="0" smtClean="0"/>
              <a:t>Quote)</a:t>
            </a:r>
            <a:endParaRPr lang="en-IN" sz="1100" dirty="0"/>
          </a:p>
          <a:p>
            <a:pPr lvl="2"/>
            <a:r>
              <a:rPr lang="en-IN" sz="1100" dirty="0"/>
              <a:t>                         │</a:t>
            </a:r>
          </a:p>
          <a:p>
            <a:pPr lvl="2"/>
            <a:r>
              <a:rPr lang="en-IN" sz="1100" dirty="0"/>
              <a:t>                         </a:t>
            </a:r>
            <a:r>
              <a:rPr lang="en-IN" sz="1100" dirty="0" smtClean="0"/>
              <a:t>▼</a:t>
            </a:r>
          </a:p>
          <a:p>
            <a:pPr lvl="2"/>
            <a:r>
              <a:rPr lang="en-IN" sz="1100" dirty="0" smtClean="0"/>
              <a:t>REVOPS / GROWTH (Revenue Operations)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163896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1380867" y="695479"/>
            <a:ext cx="10238120" cy="4247317"/>
            <a:chOff x="157164" y="228600"/>
            <a:chExt cx="10238120" cy="4247317"/>
          </a:xfrm>
        </p:grpSpPr>
        <p:sp>
          <p:nvSpPr>
            <p:cNvPr id="2" name="Rectangle 1"/>
            <p:cNvSpPr/>
            <p:nvPr/>
          </p:nvSpPr>
          <p:spPr>
            <a:xfrm>
              <a:off x="157164" y="228600"/>
              <a:ext cx="4896100" cy="37548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IN" sz="1400" dirty="0"/>
                <a:t> </a:t>
              </a:r>
              <a:r>
                <a:rPr lang="en-IN" sz="1400" dirty="0" smtClean="0"/>
                <a:t>		BUSINESS</a:t>
              </a:r>
              <a:endParaRPr lang="en-IN" sz="1400" dirty="0"/>
            </a:p>
            <a:p>
              <a:r>
                <a:rPr lang="en-IN" sz="1400" dirty="0"/>
                <a:t>                            </a:t>
              </a:r>
              <a:r>
                <a:rPr lang="en-IN" sz="1400" dirty="0" smtClean="0"/>
                <a:t> │</a:t>
              </a:r>
              <a:endParaRPr lang="en-IN" sz="1400" dirty="0"/>
            </a:p>
            <a:p>
              <a:r>
                <a:rPr lang="en-IN" sz="1400" dirty="0"/>
                <a:t>                            ▼</a:t>
              </a:r>
            </a:p>
            <a:p>
              <a:r>
                <a:rPr lang="en-IN" sz="1400" dirty="0" smtClean="0"/>
                <a:t>		TENANT  &gt; ORGANIZATION</a:t>
              </a:r>
            </a:p>
            <a:p>
              <a:r>
                <a:rPr lang="en-IN" sz="1400" dirty="0" smtClean="0"/>
                <a:t>             ┌───────────────────────────┐</a:t>
              </a:r>
              <a:endParaRPr lang="en-IN" sz="1400" dirty="0"/>
            </a:p>
            <a:p>
              <a:r>
                <a:rPr lang="en-IN" sz="1400" dirty="0"/>
                <a:t>             ▼              </a:t>
              </a:r>
              <a:r>
                <a:rPr lang="en-IN" sz="1400" dirty="0" smtClean="0"/>
                <a:t>		▼              	▼</a:t>
              </a:r>
              <a:endParaRPr lang="en-IN" sz="1400" dirty="0"/>
            </a:p>
            <a:p>
              <a:r>
                <a:rPr lang="en-IN" sz="1400" dirty="0"/>
                <a:t>         Customers       Employees      Partners</a:t>
              </a:r>
            </a:p>
            <a:p>
              <a:r>
                <a:rPr lang="en-IN" sz="1400" dirty="0"/>
                <a:t>             │</a:t>
              </a:r>
            </a:p>
            <a:p>
              <a:r>
                <a:rPr lang="en-IN" sz="1400" dirty="0"/>
                <a:t>             ▼</a:t>
              </a:r>
            </a:p>
            <a:p>
              <a:r>
                <a:rPr lang="en-IN" sz="1400" dirty="0"/>
                <a:t>          Contacts</a:t>
              </a:r>
            </a:p>
            <a:p>
              <a:r>
                <a:rPr lang="en-IN" sz="1400" dirty="0"/>
                <a:t>             │</a:t>
              </a:r>
            </a:p>
            <a:p>
              <a:r>
                <a:rPr lang="en-IN" sz="1400" dirty="0"/>
                <a:t>             ▼</a:t>
              </a:r>
            </a:p>
            <a:p>
              <a:r>
                <a:rPr lang="en-IN" sz="1400" dirty="0"/>
                <a:t>            Leads</a:t>
              </a:r>
            </a:p>
            <a:p>
              <a:r>
                <a:rPr lang="en-IN" sz="1400" dirty="0"/>
                <a:t>             │</a:t>
              </a:r>
            </a:p>
            <a:p>
              <a:r>
                <a:rPr lang="en-IN" sz="1400" dirty="0"/>
                <a:t>             ▼</a:t>
              </a:r>
            </a:p>
            <a:p>
              <a:r>
                <a:rPr lang="en-IN" sz="1400" dirty="0"/>
                <a:t>       Opportunities</a:t>
              </a:r>
            </a:p>
            <a:p>
              <a:r>
                <a:rPr lang="en-IN" sz="1400" dirty="0"/>
                <a:t>             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6801853" y="505599"/>
              <a:ext cx="3593431" cy="39703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IN" sz="1400" dirty="0" smtClean="0"/>
                <a:t>           Quotation</a:t>
              </a:r>
              <a:endParaRPr lang="en-IN" sz="1400" dirty="0"/>
            </a:p>
            <a:p>
              <a:r>
                <a:rPr lang="en-IN" sz="1400" dirty="0"/>
                <a:t>             │</a:t>
              </a:r>
            </a:p>
            <a:p>
              <a:r>
                <a:rPr lang="en-IN" sz="1400" dirty="0"/>
                <a:t>             ▼</a:t>
              </a:r>
            </a:p>
            <a:p>
              <a:r>
                <a:rPr lang="en-IN" sz="1400" dirty="0"/>
                <a:t>            Sales</a:t>
              </a:r>
            </a:p>
            <a:p>
              <a:r>
                <a:rPr lang="en-IN" sz="1400" dirty="0"/>
                <a:t>             │</a:t>
              </a:r>
            </a:p>
            <a:p>
              <a:r>
                <a:rPr lang="en-IN" sz="1400" dirty="0"/>
                <a:t>             ▼</a:t>
              </a:r>
            </a:p>
            <a:p>
              <a:r>
                <a:rPr lang="en-IN" sz="1400" dirty="0"/>
                <a:t>          Customer</a:t>
              </a:r>
            </a:p>
            <a:p>
              <a:r>
                <a:rPr lang="en-IN" sz="1400" dirty="0"/>
                <a:t>          Relationship</a:t>
              </a:r>
            </a:p>
            <a:p>
              <a:r>
                <a:rPr lang="en-IN" sz="1400" dirty="0"/>
                <a:t>             │</a:t>
              </a:r>
            </a:p>
            <a:p>
              <a:r>
                <a:rPr lang="en-IN" sz="1400" dirty="0" smtClean="0"/>
                <a:t>      ┌───────-──-───────┐</a:t>
              </a:r>
            </a:p>
            <a:p>
              <a:r>
                <a:rPr lang="en-IN" sz="1400" dirty="0" smtClean="0"/>
                <a:t>      </a:t>
              </a:r>
              <a:r>
                <a:rPr lang="en-IN" sz="1400" dirty="0"/>
                <a:t>▼      </a:t>
              </a:r>
              <a:r>
                <a:rPr lang="en-IN" sz="1400" dirty="0" smtClean="0"/>
                <a:t>    ▼                     ▼</a:t>
              </a:r>
              <a:endParaRPr lang="en-IN" sz="1400" dirty="0"/>
            </a:p>
            <a:p>
              <a:r>
                <a:rPr lang="en-IN" sz="1400" dirty="0"/>
                <a:t>   Service  Tasks </a:t>
              </a:r>
              <a:r>
                <a:rPr lang="en-IN" sz="1400" dirty="0" smtClean="0"/>
                <a:t>    </a:t>
              </a:r>
              <a:r>
                <a:rPr lang="en-IN" sz="1400" dirty="0"/>
                <a:t>Communication</a:t>
              </a:r>
            </a:p>
            <a:p>
              <a:r>
                <a:rPr lang="en-IN" sz="1400" dirty="0"/>
                <a:t>      │</a:t>
              </a:r>
            </a:p>
            <a:p>
              <a:r>
                <a:rPr lang="en-IN" sz="1400" dirty="0"/>
                <a:t>      ▼</a:t>
              </a:r>
            </a:p>
            <a:p>
              <a:r>
                <a:rPr lang="en-IN" sz="1400" dirty="0"/>
                <a:t>   Retention</a:t>
              </a:r>
            </a:p>
            <a:p>
              <a:r>
                <a:rPr lang="en-IN" sz="1400" dirty="0"/>
                <a:t>      │</a:t>
              </a:r>
            </a:p>
            <a:p>
              <a:r>
                <a:rPr lang="en-IN" sz="1400" dirty="0"/>
                <a:t>      ▼</a:t>
              </a:r>
            </a:p>
            <a:p>
              <a:r>
                <a:rPr lang="en-IN" sz="1400" dirty="0"/>
                <a:t>   Growth</a:t>
              </a:r>
            </a:p>
          </p:txBody>
        </p:sp>
        <p:cxnSp>
          <p:nvCxnSpPr>
            <p:cNvPr id="5" name="Elbow Connector 4"/>
            <p:cNvCxnSpPr/>
            <p:nvPr/>
          </p:nvCxnSpPr>
          <p:spPr>
            <a:xfrm flipV="1">
              <a:off x="1692322" y="736981"/>
              <a:ext cx="5554639" cy="288928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/>
          <p:cNvSpPr txBox="1"/>
          <p:nvPr/>
        </p:nvSpPr>
        <p:spPr>
          <a:xfrm>
            <a:off x="5036024" y="152027"/>
            <a:ext cx="4176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rPr dirty="0"/>
              <a:t>CRM </a:t>
            </a:r>
            <a:r>
              <a:rPr lang="en-IN" dirty="0" smtClean="0"/>
              <a:t>Business Foundation</a:t>
            </a:r>
            <a:endParaRPr lang="en-IN" dirty="0"/>
          </a:p>
        </p:txBody>
      </p:sp>
      <p:grpSp>
        <p:nvGrpSpPr>
          <p:cNvPr id="20" name="Group 19"/>
          <p:cNvGrpSpPr/>
          <p:nvPr/>
        </p:nvGrpSpPr>
        <p:grpSpPr>
          <a:xfrm>
            <a:off x="1152998" y="4760330"/>
            <a:ext cx="6989329" cy="1569660"/>
            <a:chOff x="4265525" y="4881561"/>
            <a:chExt cx="6989329" cy="1569660"/>
          </a:xfrm>
        </p:grpSpPr>
        <p:sp>
          <p:nvSpPr>
            <p:cNvPr id="18" name="Rectangle 17"/>
            <p:cNvSpPr/>
            <p:nvPr/>
          </p:nvSpPr>
          <p:spPr>
            <a:xfrm>
              <a:off x="4265525" y="5130921"/>
              <a:ext cx="4796589" cy="11695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1400" b="1" dirty="0" smtClean="0"/>
                <a:t>Important point: </a:t>
              </a:r>
              <a:r>
                <a:rPr lang="en-GB" sz="1400" dirty="0" smtClean="0"/>
                <a:t>There </a:t>
              </a:r>
              <a:r>
                <a:rPr lang="en-GB" sz="1400" dirty="0"/>
                <a:t>is also a possible Organization vs Tenant distinction. Depending on your CRM's intended architecture, </a:t>
              </a:r>
              <a:r>
                <a:rPr lang="en-GB" sz="1400" b="1" dirty="0"/>
                <a:t>Organization and Tenant may be the same conceptual entity</a:t>
              </a:r>
              <a:r>
                <a:rPr lang="en-GB" sz="1400" dirty="0"/>
                <a:t>, or Organization may be the business/legal entity while Tenant represents its technical SaaS boundary.</a:t>
              </a:r>
              <a:endParaRPr lang="en-IN" sz="1400" dirty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9062114" y="4881561"/>
              <a:ext cx="2192740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IN" sz="1200" dirty="0"/>
                <a:t>Legal / Business Organization</a:t>
              </a:r>
            </a:p>
            <a:p>
              <a:r>
                <a:rPr lang="en-IN" sz="1200" dirty="0"/>
                <a:t>          │</a:t>
              </a:r>
            </a:p>
            <a:p>
              <a:r>
                <a:rPr lang="en-IN" sz="1200" dirty="0"/>
                <a:t>          ▼</a:t>
              </a:r>
            </a:p>
            <a:p>
              <a:r>
                <a:rPr lang="en-IN" sz="1200" dirty="0"/>
                <a:t>       Tenant</a:t>
              </a:r>
            </a:p>
            <a:p>
              <a:r>
                <a:rPr lang="en-IN" sz="1200" dirty="0"/>
                <a:t>         </a:t>
              </a:r>
              <a:r>
                <a:rPr lang="en-IN" sz="1200" dirty="0" smtClean="0"/>
                <a:t>  </a:t>
              </a:r>
              <a:r>
                <a:rPr lang="en-IN" sz="1200" dirty="0"/>
                <a:t>│</a:t>
              </a:r>
            </a:p>
            <a:p>
              <a:r>
                <a:rPr lang="en-IN" sz="1200" dirty="0"/>
                <a:t>     ┌────┼────┐</a:t>
              </a:r>
            </a:p>
            <a:p>
              <a:r>
                <a:rPr lang="en-IN" sz="1200" dirty="0"/>
                <a:t>     ▼    </a:t>
              </a:r>
              <a:r>
                <a:rPr lang="en-IN" sz="1200" dirty="0" smtClean="0"/>
                <a:t>    ▼           ▼</a:t>
              </a:r>
              <a:endParaRPr lang="en-IN" sz="1200" dirty="0"/>
            </a:p>
            <a:p>
              <a:r>
                <a:rPr lang="en-IN" sz="1200" dirty="0"/>
                <a:t>   Users Teams Business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814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27630" y="538540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400" b="1" dirty="0"/>
              <a:t>And this brings us back to your three levels</a:t>
            </a:r>
          </a:p>
          <a:p>
            <a:r>
              <a:rPr lang="en-GB" sz="1400" dirty="0"/>
              <a:t>This is where </a:t>
            </a:r>
            <a:r>
              <a:rPr lang="en-GB" sz="1400" b="1" dirty="0"/>
              <a:t>Edition → Subscription → Tenant</a:t>
            </a:r>
            <a:r>
              <a:rPr lang="en-GB" sz="1400" dirty="0"/>
              <a:t> becomes a very strong business story: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0019" y="1310777"/>
            <a:ext cx="4512859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/>
              <a:t> </a:t>
            </a:r>
            <a:r>
              <a:rPr lang="en-IN" sz="1400" dirty="0" smtClean="0"/>
              <a:t>      "</a:t>
            </a:r>
            <a:r>
              <a:rPr lang="en-IN" sz="1400" dirty="0"/>
              <a:t>WHAT DO I NEED?"</a:t>
            </a:r>
          </a:p>
          <a:p>
            <a:r>
              <a:rPr lang="en-IN" sz="1400" dirty="0"/>
              <a:t>                       │</a:t>
            </a:r>
          </a:p>
          <a:p>
            <a:r>
              <a:rPr lang="en-IN" sz="1400" dirty="0"/>
              <a:t>                       ▼</a:t>
            </a:r>
          </a:p>
          <a:p>
            <a:r>
              <a:rPr lang="en-IN" sz="1400" dirty="0"/>
              <a:t>                    EDITION</a:t>
            </a:r>
          </a:p>
          <a:p>
            <a:r>
              <a:rPr lang="en-IN" sz="1400" dirty="0"/>
              <a:t>                       │</a:t>
            </a:r>
          </a:p>
          <a:p>
            <a:r>
              <a:rPr lang="en-IN" sz="1400" dirty="0"/>
              <a:t>                       ▼</a:t>
            </a:r>
          </a:p>
          <a:p>
            <a:r>
              <a:rPr lang="en-IN" sz="1400" dirty="0"/>
              <a:t>              "WHAT DO I BUY?"</a:t>
            </a:r>
          </a:p>
          <a:p>
            <a:r>
              <a:rPr lang="en-IN" sz="1400" dirty="0"/>
              <a:t>                       │</a:t>
            </a:r>
          </a:p>
          <a:p>
            <a:r>
              <a:rPr lang="en-IN" sz="1400" dirty="0"/>
              <a:t>                       ▼</a:t>
            </a:r>
          </a:p>
          <a:p>
            <a:r>
              <a:rPr lang="en-IN" sz="1400" dirty="0"/>
              <a:t>                 SUBSCRIPTION</a:t>
            </a:r>
          </a:p>
          <a:p>
            <a:r>
              <a:rPr lang="en-IN" sz="1400" dirty="0"/>
              <a:t>                       │</a:t>
            </a:r>
          </a:p>
          <a:p>
            <a:r>
              <a:rPr lang="en-IN" sz="1400" dirty="0"/>
              <a:t>                       ▼</a:t>
            </a:r>
          </a:p>
          <a:p>
            <a:r>
              <a:rPr lang="en-IN" sz="1400" dirty="0"/>
              <a:t>              "WHO WILL USE IT?"</a:t>
            </a:r>
          </a:p>
          <a:p>
            <a:r>
              <a:rPr lang="en-IN" sz="1400" dirty="0"/>
              <a:t>                       │</a:t>
            </a:r>
          </a:p>
          <a:p>
            <a:r>
              <a:rPr lang="en-IN" sz="1400" dirty="0"/>
              <a:t>                       ▼</a:t>
            </a:r>
          </a:p>
          <a:p>
            <a:r>
              <a:rPr lang="en-IN" sz="1400" dirty="0"/>
              <a:t>              </a:t>
            </a:r>
            <a:r>
              <a:rPr lang="en-IN" sz="1400" dirty="0" smtClean="0"/>
              <a:t>TENANT &gt; ORGANIZATION &gt; USERS</a:t>
            </a:r>
            <a:endParaRPr lang="en-IN" sz="1400" dirty="0"/>
          </a:p>
          <a:p>
            <a:r>
              <a:rPr lang="en-IN" sz="1400" dirty="0"/>
              <a:t>                       </a:t>
            </a:r>
            <a:r>
              <a:rPr lang="en-IN" sz="1400" dirty="0" smtClean="0"/>
              <a:t>		│</a:t>
            </a:r>
            <a:endParaRPr lang="en-IN" sz="1400" dirty="0"/>
          </a:p>
          <a:p>
            <a:r>
              <a:rPr lang="en-IN" sz="1400" dirty="0"/>
              <a:t>                       </a:t>
            </a:r>
            <a:r>
              <a:rPr lang="en-IN" sz="1400" dirty="0" smtClean="0"/>
              <a:t>		▼</a:t>
            </a:r>
            <a:endParaRPr lang="en-IN" sz="1400" dirty="0"/>
          </a:p>
          <a:p>
            <a:r>
              <a:rPr lang="en-IN" sz="1400" dirty="0"/>
              <a:t>              "WHAT WILL I ACHIEVE?"</a:t>
            </a:r>
          </a:p>
          <a:p>
            <a:r>
              <a:rPr lang="en-IN" sz="1400" dirty="0"/>
              <a:t>                       │</a:t>
            </a:r>
          </a:p>
          <a:p>
            <a:r>
              <a:rPr lang="en-IN" sz="1400" dirty="0"/>
              <a:t>       ┌───────────────┼───────────────┐</a:t>
            </a:r>
          </a:p>
          <a:p>
            <a:r>
              <a:rPr lang="en-IN" sz="1400" dirty="0"/>
              <a:t>       </a:t>
            </a:r>
            <a:r>
              <a:rPr lang="en-IN" sz="1400" dirty="0" smtClean="0"/>
              <a:t>▼               	        ▼               	         ▼</a:t>
            </a:r>
            <a:endParaRPr lang="en-IN" sz="1400" dirty="0"/>
          </a:p>
          <a:p>
            <a:r>
              <a:rPr lang="en-IN" sz="1400" dirty="0"/>
              <a:t>    MORE SALES     BETTER CONTROL   HAPPY CUSTOMERS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327175" y="4369896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b="1" dirty="0"/>
              <a:t>Edition → What capability do I need?</a:t>
            </a:r>
            <a:r>
              <a:rPr lang="en-GB" dirty="0"/>
              <a:t/>
            </a:r>
            <a:br>
              <a:rPr lang="en-GB" dirty="0"/>
            </a:br>
            <a:r>
              <a:rPr lang="en-GB" b="1" dirty="0"/>
              <a:t>Subscription → What commercial entitlement do I purchase?</a:t>
            </a:r>
            <a:r>
              <a:rPr lang="en-GB" dirty="0"/>
              <a:t/>
            </a:r>
            <a:br>
              <a:rPr lang="en-GB" dirty="0"/>
            </a:br>
            <a:r>
              <a:rPr lang="en-GB" b="1" dirty="0"/>
              <a:t>Tenant → Which organization gets that capability?</a:t>
            </a:r>
            <a:endParaRPr lang="en-IN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9826" y="1618398"/>
            <a:ext cx="5892520" cy="202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329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382138" y="42446"/>
            <a:ext cx="24293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rPr dirty="0"/>
              <a:t>CRM </a:t>
            </a:r>
            <a:r>
              <a:rPr lang="en-IN" dirty="0" smtClean="0"/>
              <a:t>Business Foundation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1787856" y="711749"/>
            <a:ext cx="5308979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/>
              <a:t>The important </a:t>
            </a:r>
            <a:r>
              <a:rPr lang="en-IN" sz="1400" dirty="0" smtClean="0"/>
              <a:t>relationship:</a:t>
            </a:r>
          </a:p>
          <a:p>
            <a:pPr algn="ctr"/>
            <a:endParaRPr lang="en-IN" sz="1400" dirty="0"/>
          </a:p>
          <a:p>
            <a:pPr algn="ctr"/>
            <a:r>
              <a:rPr lang="en-IN" sz="1400" dirty="0" smtClean="0"/>
              <a:t> PRODUCT: CRM</a:t>
            </a:r>
          </a:p>
          <a:p>
            <a:pPr algn="ctr"/>
            <a:r>
              <a:rPr lang="en-IN" sz="1400" dirty="0" smtClean="0"/>
              <a:t>│</a:t>
            </a:r>
          </a:p>
          <a:p>
            <a:pPr algn="ctr"/>
            <a:r>
              <a:rPr lang="en-IN" sz="1400" dirty="0" smtClean="0"/>
              <a:t>▼</a:t>
            </a:r>
            <a:endParaRPr lang="en-IN" sz="1400" dirty="0"/>
          </a:p>
          <a:p>
            <a:pPr algn="ctr"/>
            <a:r>
              <a:rPr lang="en-IN" sz="1400" dirty="0" smtClean="0"/>
              <a:t>EDITION</a:t>
            </a:r>
            <a:endParaRPr lang="en-IN" sz="1400" dirty="0"/>
          </a:p>
          <a:p>
            <a:pPr algn="ctr"/>
            <a:r>
              <a:rPr lang="en-IN" sz="1400" dirty="0" smtClean="0"/>
              <a:t>"</a:t>
            </a:r>
            <a:r>
              <a:rPr lang="en-IN" sz="1400" dirty="0"/>
              <a:t>What can I use?"</a:t>
            </a:r>
          </a:p>
          <a:p>
            <a:pPr algn="ctr"/>
            <a:r>
              <a:rPr lang="en-IN" sz="1400" dirty="0" smtClean="0"/>
              <a:t>│</a:t>
            </a:r>
            <a:endParaRPr lang="en-IN" sz="1400" dirty="0"/>
          </a:p>
          <a:p>
            <a:pPr algn="ctr"/>
            <a:r>
              <a:rPr lang="en-IN" sz="1400" dirty="0" smtClean="0"/>
              <a:t>▼</a:t>
            </a:r>
            <a:endParaRPr lang="en-IN" sz="1400" dirty="0"/>
          </a:p>
          <a:p>
            <a:pPr algn="ctr"/>
            <a:r>
              <a:rPr lang="en-IN" sz="1400" dirty="0" smtClean="0"/>
              <a:t>SUBSCRIPTION</a:t>
            </a:r>
            <a:endParaRPr lang="en-IN" sz="1400" dirty="0"/>
          </a:p>
          <a:p>
            <a:pPr algn="ctr"/>
            <a:r>
              <a:rPr lang="en-IN" sz="1400" dirty="0" smtClean="0"/>
              <a:t>"</a:t>
            </a:r>
            <a:r>
              <a:rPr lang="en-IN" sz="1400" dirty="0"/>
              <a:t>What did I buy?"</a:t>
            </a:r>
          </a:p>
          <a:p>
            <a:pPr algn="ctr"/>
            <a:r>
              <a:rPr lang="en-IN" sz="1400" dirty="0" smtClean="0"/>
              <a:t>│</a:t>
            </a:r>
            <a:endParaRPr lang="en-IN" sz="1400" dirty="0"/>
          </a:p>
          <a:p>
            <a:pPr algn="ctr"/>
            <a:r>
              <a:rPr lang="en-IN" sz="1400" dirty="0" smtClean="0"/>
              <a:t>▼</a:t>
            </a:r>
            <a:endParaRPr lang="en-IN" sz="1400" dirty="0"/>
          </a:p>
          <a:p>
            <a:pPr algn="ctr"/>
            <a:r>
              <a:rPr lang="en-IN" sz="1400" dirty="0" smtClean="0"/>
              <a:t>TENANT &gt; </a:t>
            </a:r>
            <a:r>
              <a:rPr lang="en-IN" sz="1400" dirty="0"/>
              <a:t>ORGANIZATION</a:t>
            </a:r>
          </a:p>
          <a:p>
            <a:pPr algn="ctr"/>
            <a:r>
              <a:rPr lang="en-IN" sz="1400" dirty="0" smtClean="0"/>
              <a:t>"</a:t>
            </a:r>
            <a:r>
              <a:rPr lang="en-IN" sz="1400" dirty="0"/>
              <a:t>Who is using it?"</a:t>
            </a:r>
          </a:p>
          <a:p>
            <a:pPr algn="ctr"/>
            <a:r>
              <a:rPr lang="en-IN" sz="1400" dirty="0" smtClean="0"/>
              <a:t>┌──────────────────────┐</a:t>
            </a:r>
          </a:p>
          <a:p>
            <a:pPr algn="ctr"/>
            <a:r>
              <a:rPr lang="en-IN" sz="1400" dirty="0" smtClean="0"/>
              <a:t>▼           ▼           	▼</a:t>
            </a:r>
          </a:p>
          <a:p>
            <a:pPr algn="ctr"/>
            <a:r>
              <a:rPr lang="en-IN" sz="1400" dirty="0" smtClean="0"/>
              <a:t>	Users        </a:t>
            </a:r>
            <a:r>
              <a:rPr lang="en-IN" sz="1400" dirty="0"/>
              <a:t>Roles      Business </a:t>
            </a:r>
            <a:r>
              <a:rPr lang="en-IN" sz="1400" dirty="0" smtClean="0"/>
              <a:t>Data</a:t>
            </a:r>
          </a:p>
          <a:p>
            <a:pPr algn="ctr"/>
            <a:r>
              <a:rPr lang="en-IN" sz="1400" dirty="0" smtClean="0"/>
              <a:t>│</a:t>
            </a:r>
            <a:endParaRPr lang="en-IN" sz="1400" dirty="0"/>
          </a:p>
          <a:p>
            <a:pPr algn="ctr"/>
            <a:r>
              <a:rPr lang="en-IN" sz="1400" dirty="0" smtClean="0"/>
              <a:t>┌──────────────────────┐</a:t>
            </a:r>
            <a:endParaRPr lang="en-IN" sz="1400" dirty="0"/>
          </a:p>
          <a:p>
            <a:pPr algn="ctr"/>
            <a:r>
              <a:rPr lang="en-IN" sz="1400" dirty="0" smtClean="0"/>
              <a:t>▼             		▼               ▼</a:t>
            </a:r>
            <a:endParaRPr lang="en-IN" sz="1400" dirty="0"/>
          </a:p>
          <a:p>
            <a:pPr algn="ctr"/>
            <a:r>
              <a:rPr lang="en-IN" sz="1400" dirty="0" smtClean="0"/>
              <a:t>Customers      </a:t>
            </a:r>
            <a:r>
              <a:rPr lang="en-IN" sz="1400" dirty="0"/>
              <a:t>Contacts       Sales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370356"/>
              </p:ext>
            </p:extLst>
          </p:nvPr>
        </p:nvGraphicFramePr>
        <p:xfrm>
          <a:off x="7255870" y="381000"/>
          <a:ext cx="4749800" cy="377952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663700"/>
                <a:gridCol w="1028700"/>
                <a:gridCol w="1028700"/>
                <a:gridCol w="1028700"/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Layer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Community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Professional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Enterprise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Authentication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✓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✓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 dirty="0">
                          <a:effectLst/>
                        </a:rPr>
                        <a:t>✓ + SSO/MFA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CRM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✓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✓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✓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Sales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Basic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✓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✓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Projects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-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✓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✓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Finance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-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✓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✓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Help Desk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-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✓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✓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Workflow Engine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-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Limited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✓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Rule Engine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-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Basic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✓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Document Engine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Basic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✓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✓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Reports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Basic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Advanced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Enterprise BI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Audit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Basic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Standard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Advanced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AI Services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-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Optional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✓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API Gateway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-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-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✓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Third-party Integrations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-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Basic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Enterprise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Multi-tenancy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Single Tenant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Optional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 dirty="0">
                          <a:effectLst/>
                        </a:rPr>
                        <a:t>Full SaaS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cxnSp>
        <p:nvCxnSpPr>
          <p:cNvPr id="9" name="Elbow Connector 8"/>
          <p:cNvCxnSpPr/>
          <p:nvPr/>
        </p:nvCxnSpPr>
        <p:spPr>
          <a:xfrm flipV="1">
            <a:off x="4831307" y="476195"/>
            <a:ext cx="2424563" cy="147543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50208" y="2989296"/>
            <a:ext cx="2765946" cy="2462213"/>
          </a:xfrm>
          <a:prstGeom prst="rect">
            <a:avLst/>
          </a:prstGeom>
        </p:spPr>
        <p:style>
          <a:lnRef idx="2">
            <a:schemeClr val="accent1"/>
          </a:lnRef>
          <a:fillRef idx="100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400" dirty="0"/>
              <a:t>ABC Technologies Pvt Ltd</a:t>
            </a:r>
          </a:p>
          <a:p>
            <a:r>
              <a:rPr lang="en-IN" sz="1400" dirty="0"/>
              <a:t>        │</a:t>
            </a:r>
          </a:p>
          <a:p>
            <a:r>
              <a:rPr lang="en-IN" sz="1400" dirty="0"/>
              <a:t>        └── </a:t>
            </a:r>
            <a:r>
              <a:rPr lang="en-IN" sz="1400" dirty="0" smtClean="0"/>
              <a:t>Tenant Or Organization</a:t>
            </a:r>
            <a:endParaRPr lang="en-IN" sz="1400" dirty="0"/>
          </a:p>
          <a:p>
            <a:r>
              <a:rPr lang="en-IN" sz="1400" dirty="0"/>
              <a:t>              │</a:t>
            </a:r>
          </a:p>
          <a:p>
            <a:r>
              <a:rPr lang="en-IN" sz="1400" dirty="0"/>
              <a:t>              ├── Users</a:t>
            </a:r>
          </a:p>
          <a:p>
            <a:r>
              <a:rPr lang="en-IN" sz="1400" dirty="0"/>
              <a:t>              ├── Roles</a:t>
            </a:r>
          </a:p>
          <a:p>
            <a:r>
              <a:rPr lang="en-IN" sz="1400" dirty="0"/>
              <a:t>              ├── Customers</a:t>
            </a:r>
          </a:p>
          <a:p>
            <a:r>
              <a:rPr lang="en-IN" sz="1400" dirty="0"/>
              <a:t>              ├── Contacts</a:t>
            </a:r>
          </a:p>
          <a:p>
            <a:r>
              <a:rPr lang="en-IN" sz="1400" dirty="0"/>
              <a:t>              ├── Leads</a:t>
            </a:r>
          </a:p>
          <a:p>
            <a:r>
              <a:rPr lang="en-IN" sz="1400" dirty="0"/>
              <a:t>              ├── Opportunities</a:t>
            </a:r>
          </a:p>
          <a:p>
            <a:r>
              <a:rPr lang="en-IN" sz="1400" dirty="0"/>
              <a:t>              └── Activities</a:t>
            </a:r>
          </a:p>
        </p:txBody>
      </p:sp>
      <p:cxnSp>
        <p:nvCxnSpPr>
          <p:cNvPr id="18" name="Elbow Connector 17"/>
          <p:cNvCxnSpPr>
            <a:endCxn id="13" idx="3"/>
          </p:cNvCxnSpPr>
          <p:nvPr/>
        </p:nvCxnSpPr>
        <p:spPr>
          <a:xfrm rot="5400000">
            <a:off x="2906536" y="3767218"/>
            <a:ext cx="562803" cy="34356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255870" y="4420457"/>
            <a:ext cx="4749800" cy="206210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600" dirty="0"/>
              <a:t>Edition</a:t>
            </a:r>
          </a:p>
          <a:p>
            <a:r>
              <a:rPr lang="en-IN" sz="1600" dirty="0"/>
              <a:t>Enterprise</a:t>
            </a:r>
          </a:p>
          <a:p>
            <a:r>
              <a:rPr lang="en-IN" sz="1600" dirty="0"/>
              <a:t>    </a:t>
            </a:r>
            <a:r>
              <a:rPr lang="en-IN" sz="1600" dirty="0" smtClean="0"/>
              <a:t>│</a:t>
            </a:r>
            <a:endParaRPr lang="en-IN" sz="1600" dirty="0"/>
          </a:p>
          <a:p>
            <a:r>
              <a:rPr lang="en-IN" sz="1600" dirty="0"/>
              <a:t>Subscription</a:t>
            </a:r>
          </a:p>
          <a:p>
            <a:r>
              <a:rPr lang="en-IN" sz="1600" dirty="0"/>
              <a:t>Annual / 100 Users / </a:t>
            </a:r>
            <a:r>
              <a:rPr lang="en-IN" sz="1600" dirty="0" smtClean="0"/>
              <a:t>Active</a:t>
            </a:r>
          </a:p>
          <a:p>
            <a:endParaRPr lang="en-GB" sz="1600" dirty="0"/>
          </a:p>
          <a:p>
            <a:r>
              <a:rPr lang="en-GB" sz="1600" dirty="0"/>
              <a:t>Subscription = What has the customer purchased, for how long, and under what terms?</a:t>
            </a:r>
            <a:endParaRPr lang="en-IN" sz="1600" dirty="0"/>
          </a:p>
        </p:txBody>
      </p:sp>
      <p:cxnSp>
        <p:nvCxnSpPr>
          <p:cNvPr id="24" name="Elbow Connector 23"/>
          <p:cNvCxnSpPr/>
          <p:nvPr/>
        </p:nvCxnSpPr>
        <p:spPr>
          <a:xfrm>
            <a:off x="5049672" y="2893326"/>
            <a:ext cx="2206198" cy="212145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959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712" y="436658"/>
            <a:ext cx="286065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/>
              <a:t>Relationship with Edition and Tenant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076" y="842578"/>
            <a:ext cx="2168476" cy="32208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06991" y="4395787"/>
            <a:ext cx="357343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/>
              <a:t>And the customer-facing relationship </a:t>
            </a:r>
            <a:r>
              <a:rPr lang="en-IN" sz="1400" dirty="0" smtClean="0"/>
              <a:t>remains: </a:t>
            </a:r>
            <a:endParaRPr lang="en-IN" sz="1400" dirty="0"/>
          </a:p>
          <a:p>
            <a:r>
              <a:rPr lang="en-IN" sz="1400" dirty="0"/>
              <a:t>Edition		</a:t>
            </a:r>
          </a:p>
          <a:p>
            <a:r>
              <a:rPr lang="en-IN" sz="1400" dirty="0"/>
              <a:t>   ↓		</a:t>
            </a:r>
          </a:p>
          <a:p>
            <a:r>
              <a:rPr lang="en-IN" sz="1400" dirty="0"/>
              <a:t>Subscription Plan		</a:t>
            </a:r>
          </a:p>
          <a:p>
            <a:r>
              <a:rPr lang="en-IN" sz="1400" dirty="0"/>
              <a:t>   ↓		</a:t>
            </a:r>
          </a:p>
          <a:p>
            <a:r>
              <a:rPr lang="en-IN" sz="1400" dirty="0"/>
              <a:t>Subscription		</a:t>
            </a:r>
          </a:p>
          <a:p>
            <a:r>
              <a:rPr lang="en-IN" sz="1400" dirty="0"/>
              <a:t>   ↓		</a:t>
            </a:r>
          </a:p>
          <a:p>
            <a:r>
              <a:rPr lang="en-IN" sz="1400" dirty="0" smtClean="0"/>
              <a:t>Tenant</a:t>
            </a:r>
            <a:endParaRPr lang="en-IN" sz="1400" dirty="0"/>
          </a:p>
        </p:txBody>
      </p:sp>
      <p:sp>
        <p:nvSpPr>
          <p:cNvPr id="7" name="Rectangle 6"/>
          <p:cNvSpPr/>
          <p:nvPr/>
        </p:nvSpPr>
        <p:spPr>
          <a:xfrm>
            <a:off x="3684897" y="652102"/>
            <a:ext cx="434681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b="1" dirty="0" smtClean="0"/>
              <a:t>Example</a:t>
            </a:r>
            <a:r>
              <a:rPr lang="en-IN" sz="1400" dirty="0"/>
              <a:t> </a:t>
            </a:r>
            <a:r>
              <a:rPr lang="en-IN" sz="1400" dirty="0" smtClean="0"/>
              <a:t> Suppose:	</a:t>
            </a:r>
          </a:p>
          <a:p>
            <a:r>
              <a:rPr lang="en-IN" sz="1400" dirty="0" smtClean="0"/>
              <a:t>	</a:t>
            </a:r>
          </a:p>
          <a:p>
            <a:r>
              <a:rPr lang="en-IN" sz="1400" dirty="0" smtClean="0"/>
              <a:t>ABC Ltd chooses:</a:t>
            </a:r>
            <a:r>
              <a:rPr lang="en-IN" sz="1400" dirty="0"/>
              <a:t> </a:t>
            </a:r>
            <a:r>
              <a:rPr lang="en-IN" sz="1400" dirty="0" smtClean="0"/>
              <a:t>Professional Edition → Professional Annual	</a:t>
            </a:r>
          </a:p>
          <a:p>
            <a:r>
              <a:rPr lang="en-IN" sz="1400" dirty="0" smtClean="0"/>
              <a:t>	</a:t>
            </a:r>
          </a:p>
          <a:p>
            <a:r>
              <a:rPr lang="en-IN" sz="1400" dirty="0" smtClean="0"/>
              <a:t>		The data becomes:	</a:t>
            </a:r>
          </a:p>
          <a:p>
            <a:r>
              <a:rPr lang="en-IN" sz="1400" dirty="0" smtClean="0"/>
              <a:t>	</a:t>
            </a:r>
          </a:p>
          <a:p>
            <a:r>
              <a:rPr lang="en-IN" sz="1400" dirty="0" smtClean="0"/>
              <a:t>			EDITION	</a:t>
            </a:r>
          </a:p>
          <a:p>
            <a:r>
              <a:rPr lang="en-IN" sz="1400" dirty="0" smtClean="0"/>
              <a:t>		Professional Edition	</a:t>
            </a:r>
          </a:p>
          <a:p>
            <a:r>
              <a:rPr lang="en-IN" sz="1400" dirty="0" smtClean="0"/>
              <a:t>       			 │	</a:t>
            </a:r>
          </a:p>
          <a:p>
            <a:r>
              <a:rPr lang="en-IN" sz="1400" dirty="0" smtClean="0"/>
              <a:t>        			▼	</a:t>
            </a:r>
          </a:p>
          <a:p>
            <a:r>
              <a:rPr lang="en-IN" sz="1400" dirty="0" smtClean="0"/>
              <a:t>		SUBSCRIPTION PLAN	</a:t>
            </a:r>
          </a:p>
          <a:p>
            <a:r>
              <a:rPr lang="en-IN" sz="1400" dirty="0" smtClean="0"/>
              <a:t>		Professional Annual	</a:t>
            </a:r>
          </a:p>
          <a:p>
            <a:r>
              <a:rPr lang="en-IN" sz="1400" dirty="0" smtClean="0"/>
              <a:t>        			│	</a:t>
            </a:r>
          </a:p>
          <a:p>
            <a:r>
              <a:rPr lang="en-IN" sz="1400" dirty="0" smtClean="0"/>
              <a:t>        			▼	</a:t>
            </a:r>
          </a:p>
          <a:p>
            <a:r>
              <a:rPr lang="en-IN" sz="1400" dirty="0" smtClean="0"/>
              <a:t>		SUBSCRIPTION	</a:t>
            </a:r>
          </a:p>
          <a:p>
            <a:r>
              <a:rPr lang="en-IN" sz="1400" dirty="0" smtClean="0"/>
              <a:t>		SUB-2026-000001	</a:t>
            </a:r>
          </a:p>
          <a:p>
            <a:pPr marL="804863"/>
            <a:r>
              <a:rPr lang="en-IN" sz="1400" dirty="0" smtClean="0"/>
              <a:t>        │	</a:t>
            </a:r>
          </a:p>
          <a:p>
            <a:pPr marL="804863"/>
            <a:r>
              <a:rPr lang="en-IN" sz="1400" dirty="0" smtClean="0"/>
              <a:t>        ├── Tenant = ABC Ltd	</a:t>
            </a:r>
          </a:p>
          <a:p>
            <a:pPr marL="804863"/>
            <a:r>
              <a:rPr lang="en-IN" sz="1400" dirty="0" smtClean="0"/>
              <a:t>        ├── Start = 01-Apr-2026	</a:t>
            </a:r>
          </a:p>
          <a:p>
            <a:pPr marL="804863"/>
            <a:r>
              <a:rPr lang="en-IN" sz="1400" dirty="0" smtClean="0"/>
              <a:t>        ├── End = 31-Mar-2027	</a:t>
            </a:r>
          </a:p>
          <a:p>
            <a:pPr marL="804863"/>
            <a:r>
              <a:rPr lang="en-IN" sz="1400" dirty="0" smtClean="0"/>
              <a:t>        ├── Amount = ₹XXX	</a:t>
            </a:r>
          </a:p>
          <a:p>
            <a:pPr marL="804863"/>
            <a:r>
              <a:rPr lang="en-IN" sz="1400" dirty="0" smtClean="0"/>
              <a:t>        ├── Payment = PAID	</a:t>
            </a:r>
          </a:p>
          <a:p>
            <a:pPr marL="804863"/>
            <a:r>
              <a:rPr lang="en-IN" sz="1400" dirty="0" smtClean="0"/>
              <a:t>         └── Status = ACTIVE</a:t>
            </a:r>
            <a:endParaRPr lang="en-IN" sz="1400" dirty="0"/>
          </a:p>
        </p:txBody>
      </p:sp>
      <p:sp>
        <p:nvSpPr>
          <p:cNvPr id="8" name="Rectangle 7"/>
          <p:cNvSpPr/>
          <p:nvPr/>
        </p:nvSpPr>
        <p:spPr>
          <a:xfrm>
            <a:off x="8343332" y="621816"/>
            <a:ext cx="305254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/>
              <a:t>Then the subscription can have:	</a:t>
            </a:r>
          </a:p>
          <a:p>
            <a:r>
              <a:rPr lang="en-IN" sz="1400" dirty="0"/>
              <a:t>	</a:t>
            </a:r>
          </a:p>
          <a:p>
            <a:r>
              <a:rPr lang="en-IN" sz="1400" dirty="0"/>
              <a:t>Subscription Limits	</a:t>
            </a:r>
          </a:p>
          <a:p>
            <a:r>
              <a:rPr lang="en-IN" sz="1400" dirty="0"/>
              <a:t> ├── Users = 100	</a:t>
            </a:r>
          </a:p>
          <a:p>
            <a:r>
              <a:rPr lang="en-IN" sz="1400" dirty="0"/>
              <a:t> ├── Storage = 100 GB	</a:t>
            </a:r>
          </a:p>
          <a:p>
            <a:r>
              <a:rPr lang="en-IN" sz="1400" dirty="0"/>
              <a:t> └── API Calls = 0	</a:t>
            </a:r>
          </a:p>
          <a:p>
            <a:r>
              <a:rPr lang="en-IN" sz="1400" dirty="0"/>
              <a:t>	</a:t>
            </a:r>
          </a:p>
          <a:p>
            <a:r>
              <a:rPr lang="en-IN" sz="1400" dirty="0"/>
              <a:t>Subscription Add-ons	</a:t>
            </a:r>
          </a:p>
          <a:p>
            <a:r>
              <a:rPr lang="en-IN" sz="1400" dirty="0"/>
              <a:t> └── AI Services = Enabled	</a:t>
            </a:r>
          </a:p>
          <a:p>
            <a:r>
              <a:rPr lang="en-IN" sz="1400" dirty="0"/>
              <a:t>	</a:t>
            </a:r>
          </a:p>
          <a:p>
            <a:r>
              <a:rPr lang="en-IN" sz="1400" dirty="0"/>
              <a:t>The Tenant therefore receives:	</a:t>
            </a:r>
          </a:p>
          <a:p>
            <a:r>
              <a:rPr lang="en-IN" sz="1400" dirty="0"/>
              <a:t>	</a:t>
            </a:r>
          </a:p>
          <a:p>
            <a:r>
              <a:rPr lang="en-IN" sz="1400" dirty="0"/>
              <a:t>Tenant	</a:t>
            </a:r>
          </a:p>
          <a:p>
            <a:r>
              <a:rPr lang="en-IN" sz="1400" dirty="0"/>
              <a:t>   ↓	</a:t>
            </a:r>
          </a:p>
          <a:p>
            <a:r>
              <a:rPr lang="en-IN" sz="1400" dirty="0"/>
              <a:t>Active Subscription	</a:t>
            </a:r>
          </a:p>
          <a:p>
            <a:r>
              <a:rPr lang="en-IN" sz="1400" dirty="0"/>
              <a:t>   ↓	</a:t>
            </a:r>
          </a:p>
          <a:p>
            <a:r>
              <a:rPr lang="en-IN" sz="1400" dirty="0"/>
              <a:t>Professional Edition	</a:t>
            </a:r>
          </a:p>
          <a:p>
            <a:r>
              <a:rPr lang="en-IN" sz="1400" dirty="0"/>
              <a:t>   ↓	</a:t>
            </a:r>
          </a:p>
          <a:p>
            <a:r>
              <a:rPr lang="en-IN" sz="1400" dirty="0"/>
              <a:t>Edition Feature Matrix	</a:t>
            </a:r>
          </a:p>
          <a:p>
            <a:r>
              <a:rPr lang="en-IN" sz="1400" dirty="0"/>
              <a:t>   ↓	</a:t>
            </a:r>
          </a:p>
          <a:p>
            <a:r>
              <a:rPr lang="en-IN" sz="1400" dirty="0"/>
              <a:t>Actual Subscription Limits / Add-ons	</a:t>
            </a:r>
          </a:p>
          <a:p>
            <a:r>
              <a:rPr lang="en-IN" sz="1400" dirty="0"/>
              <a:t>   ↓	</a:t>
            </a:r>
          </a:p>
          <a:p>
            <a:r>
              <a:rPr lang="en-IN" sz="1400" dirty="0"/>
              <a:t>Available CRM functionality	</a:t>
            </a:r>
          </a:p>
          <a:p>
            <a:r>
              <a:rPr lang="en-IN" sz="1400" dirty="0"/>
              <a:t>	</a:t>
            </a:r>
          </a:p>
        </p:txBody>
      </p:sp>
      <p:sp>
        <p:nvSpPr>
          <p:cNvPr id="9" name="Rectangle 8"/>
          <p:cNvSpPr/>
          <p:nvPr/>
        </p:nvSpPr>
        <p:spPr>
          <a:xfrm>
            <a:off x="4466721" y="118996"/>
            <a:ext cx="13704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u="sng" dirty="0"/>
              <a:t>Subscription</a:t>
            </a:r>
          </a:p>
        </p:txBody>
      </p:sp>
    </p:spTree>
    <p:extLst>
      <p:ext uri="{BB962C8B-B14F-4D97-AF65-F5344CB8AC3E}">
        <p14:creationId xmlns:p14="http://schemas.microsoft.com/office/powerpoint/2010/main" val="2104402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10935" y="286821"/>
            <a:ext cx="26271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dirty="0"/>
              <a:t>TENANT &gt; ORGANIZATION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9176" y="884039"/>
            <a:ext cx="2652712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 smtClean="0"/>
              <a:t>	    │ EDITION     </a:t>
            </a:r>
            <a:endParaRPr lang="en-IN" sz="1200" dirty="0"/>
          </a:p>
          <a:p>
            <a:r>
              <a:rPr lang="en-IN" sz="1200" dirty="0"/>
              <a:t>                 │ Community       </a:t>
            </a:r>
          </a:p>
          <a:p>
            <a:r>
              <a:rPr lang="en-IN" sz="1200" dirty="0"/>
              <a:t>                 │ Professional    </a:t>
            </a:r>
          </a:p>
          <a:p>
            <a:r>
              <a:rPr lang="en-IN" sz="1200" dirty="0"/>
              <a:t>                 │ Enterprise      │</a:t>
            </a:r>
          </a:p>
          <a:p>
            <a:r>
              <a:rPr lang="en-IN" sz="1200" dirty="0"/>
              <a:t>                 └────────┬────────┘</a:t>
            </a:r>
          </a:p>
          <a:p>
            <a:r>
              <a:rPr lang="en-IN" sz="1200" dirty="0"/>
              <a:t>                          │</a:t>
            </a:r>
          </a:p>
          <a:p>
            <a:r>
              <a:rPr lang="en-IN" sz="1200" dirty="0"/>
              <a:t>                          ▼</a:t>
            </a:r>
          </a:p>
          <a:p>
            <a:r>
              <a:rPr lang="en-IN" sz="1200" dirty="0"/>
              <a:t>                 ┌─────────────────┐</a:t>
            </a:r>
          </a:p>
          <a:p>
            <a:r>
              <a:rPr lang="en-IN" sz="1200" dirty="0"/>
              <a:t>                 │  SUBSCRIPTION   │</a:t>
            </a:r>
          </a:p>
          <a:p>
            <a:r>
              <a:rPr lang="en-IN" sz="1200" dirty="0"/>
              <a:t>                 │ Plan + Billing  │</a:t>
            </a:r>
          </a:p>
          <a:p>
            <a:r>
              <a:rPr lang="en-IN" sz="1200" dirty="0"/>
              <a:t>                 │ + Entitlement   │</a:t>
            </a:r>
          </a:p>
          <a:p>
            <a:r>
              <a:rPr lang="en-IN" sz="1200" dirty="0"/>
              <a:t>                 └────────┬────────┘</a:t>
            </a:r>
          </a:p>
          <a:p>
            <a:r>
              <a:rPr lang="en-IN" sz="1200" dirty="0"/>
              <a:t>                          │</a:t>
            </a:r>
          </a:p>
          <a:p>
            <a:r>
              <a:rPr lang="en-IN" sz="1200" dirty="0"/>
              <a:t>                          ▼</a:t>
            </a:r>
          </a:p>
          <a:p>
            <a:r>
              <a:rPr lang="en-IN" sz="1200" dirty="0"/>
              <a:t>                 ┌─────────────────┐</a:t>
            </a:r>
          </a:p>
          <a:p>
            <a:r>
              <a:rPr lang="en-IN" sz="1200" dirty="0"/>
              <a:t>                 │     TENANT      │</a:t>
            </a:r>
          </a:p>
          <a:p>
            <a:r>
              <a:rPr lang="en-IN" sz="1200" dirty="0"/>
              <a:t>                 │ Customer / SaaS │</a:t>
            </a:r>
          </a:p>
          <a:p>
            <a:r>
              <a:rPr lang="en-IN" sz="1200" dirty="0"/>
              <a:t>                 │ Boundary        │</a:t>
            </a:r>
          </a:p>
          <a:p>
            <a:r>
              <a:rPr lang="en-IN" sz="1200" dirty="0"/>
              <a:t>                 └────────┬────────┘</a:t>
            </a:r>
          </a:p>
          <a:p>
            <a:r>
              <a:rPr lang="en-IN" sz="1200" dirty="0"/>
              <a:t>                          │</a:t>
            </a:r>
          </a:p>
          <a:p>
            <a:r>
              <a:rPr lang="en-IN" sz="1200" dirty="0"/>
              <a:t>                          ▼</a:t>
            </a:r>
          </a:p>
          <a:p>
            <a:r>
              <a:rPr lang="en-IN" sz="1200" dirty="0"/>
              <a:t>                 ┌─────────────────┐</a:t>
            </a:r>
          </a:p>
          <a:p>
            <a:r>
              <a:rPr lang="en-IN" sz="1200" dirty="0"/>
              <a:t>                 │  ORGANIZATION   │</a:t>
            </a:r>
          </a:p>
          <a:p>
            <a:r>
              <a:rPr lang="en-IN" sz="1200" dirty="0"/>
              <a:t>                 │ Legal / Branch  │</a:t>
            </a:r>
          </a:p>
          <a:p>
            <a:r>
              <a:rPr lang="en-IN" sz="1200" dirty="0"/>
              <a:t>                 │ </a:t>
            </a:r>
            <a:r>
              <a:rPr lang="en-IN" sz="1200" dirty="0" err="1"/>
              <a:t>Dept</a:t>
            </a:r>
            <a:r>
              <a:rPr lang="en-IN" sz="1200" dirty="0"/>
              <a:t> / Team     │</a:t>
            </a:r>
          </a:p>
          <a:p>
            <a:r>
              <a:rPr lang="en-IN" sz="1200" dirty="0"/>
              <a:t>                 └────────┬────────┘</a:t>
            </a:r>
          </a:p>
          <a:p>
            <a:r>
              <a:rPr lang="en-IN" sz="1200" dirty="0"/>
              <a:t>                          │</a:t>
            </a:r>
          </a:p>
          <a:p>
            <a:r>
              <a:rPr lang="en-IN" sz="1200" dirty="0"/>
              <a:t>                          ▼</a:t>
            </a:r>
          </a:p>
          <a:p>
            <a:r>
              <a:rPr lang="en-IN" sz="1200" dirty="0"/>
              <a:t>                 ┌─────────────────┐</a:t>
            </a:r>
          </a:p>
          <a:p>
            <a:r>
              <a:rPr lang="en-IN" sz="1200" dirty="0"/>
              <a:t>                 │      USER       │</a:t>
            </a:r>
          </a:p>
          <a:p>
            <a:r>
              <a:rPr lang="en-IN" sz="1200" dirty="0"/>
              <a:t>                 │ Employee / User │</a:t>
            </a:r>
          </a:p>
          <a:p>
            <a:r>
              <a:rPr lang="en-IN" sz="1200" dirty="0"/>
              <a:t>                 └─────────────────┘</a:t>
            </a:r>
          </a:p>
        </p:txBody>
      </p:sp>
      <p:sp>
        <p:nvSpPr>
          <p:cNvPr id="7" name="Rectangle 6"/>
          <p:cNvSpPr/>
          <p:nvPr/>
        </p:nvSpPr>
        <p:spPr>
          <a:xfrm>
            <a:off x="5019676" y="656153"/>
            <a:ext cx="44958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/>
              <a:t>PF — PLATFORM FOUNDATION</a:t>
            </a:r>
          </a:p>
          <a:p>
            <a:r>
              <a:rPr lang="en-IN" sz="1200" dirty="0"/>
              <a:t>│</a:t>
            </a:r>
          </a:p>
          <a:p>
            <a:r>
              <a:rPr lang="en-IN" sz="1200" dirty="0"/>
              <a:t>├── PF-001 EDITION MANAGEMENT</a:t>
            </a:r>
          </a:p>
          <a:p>
            <a:r>
              <a:rPr lang="en-IN" sz="1200" dirty="0"/>
              <a:t>│      │</a:t>
            </a:r>
          </a:p>
          <a:p>
            <a:r>
              <a:rPr lang="en-IN" sz="1200" dirty="0"/>
              <a:t>│      ├── Edition</a:t>
            </a:r>
          </a:p>
          <a:p>
            <a:r>
              <a:rPr lang="en-IN" sz="1200" dirty="0"/>
              <a:t>│      ├── Edition Feature</a:t>
            </a:r>
          </a:p>
          <a:p>
            <a:r>
              <a:rPr lang="en-IN" sz="1200" dirty="0"/>
              <a:t>│      ├── Edition Module</a:t>
            </a:r>
          </a:p>
          <a:p>
            <a:r>
              <a:rPr lang="en-IN" sz="1200" dirty="0"/>
              <a:t>│      ├── Edition Security</a:t>
            </a:r>
          </a:p>
          <a:p>
            <a:r>
              <a:rPr lang="en-IN" sz="1200" dirty="0"/>
              <a:t>│      └── Edition Integration</a:t>
            </a:r>
          </a:p>
          <a:p>
            <a:r>
              <a:rPr lang="en-IN" sz="1200" dirty="0"/>
              <a:t>│</a:t>
            </a:r>
          </a:p>
          <a:p>
            <a:r>
              <a:rPr lang="en-IN" sz="1200" dirty="0"/>
              <a:t>├── PF-002 TENANT MANAGEMENT</a:t>
            </a:r>
          </a:p>
          <a:p>
            <a:r>
              <a:rPr lang="en-IN" sz="1200" dirty="0"/>
              <a:t>│      │</a:t>
            </a:r>
          </a:p>
          <a:p>
            <a:r>
              <a:rPr lang="en-IN" sz="1200" dirty="0"/>
              <a:t>│      ├── Tenant</a:t>
            </a:r>
          </a:p>
          <a:p>
            <a:r>
              <a:rPr lang="en-IN" sz="1200" dirty="0"/>
              <a:t>│      ├── Tenant Contact</a:t>
            </a:r>
          </a:p>
          <a:p>
            <a:r>
              <a:rPr lang="en-IN" sz="1200" dirty="0"/>
              <a:t>│      ├── Tenant Address</a:t>
            </a:r>
          </a:p>
          <a:p>
            <a:r>
              <a:rPr lang="en-IN" sz="1200" dirty="0"/>
              <a:t>│      ├── Tenant Branding</a:t>
            </a:r>
          </a:p>
          <a:p>
            <a:r>
              <a:rPr lang="en-IN" sz="1200" dirty="0"/>
              <a:t>│      ├── Tenant Settings</a:t>
            </a:r>
          </a:p>
          <a:p>
            <a:r>
              <a:rPr lang="en-IN" sz="1200" dirty="0"/>
              <a:t>│      ├── Tenant Security</a:t>
            </a:r>
          </a:p>
          <a:p>
            <a:r>
              <a:rPr lang="en-IN" sz="1200" dirty="0"/>
              <a:t>│      ├── Tenant Localization</a:t>
            </a:r>
          </a:p>
          <a:p>
            <a:r>
              <a:rPr lang="en-IN" sz="1200" dirty="0"/>
              <a:t>│      └── Users</a:t>
            </a:r>
          </a:p>
          <a:p>
            <a:r>
              <a:rPr lang="en-IN" sz="1200" dirty="0"/>
              <a:t>│</a:t>
            </a:r>
          </a:p>
          <a:p>
            <a:r>
              <a:rPr lang="en-IN" sz="1200" dirty="0"/>
              <a:t>├── PF-003 SUBSCRIPTION MANAGEMENT</a:t>
            </a:r>
          </a:p>
          <a:p>
            <a:r>
              <a:rPr lang="en-IN" sz="1200" dirty="0"/>
              <a:t>│      │</a:t>
            </a:r>
          </a:p>
          <a:p>
            <a:r>
              <a:rPr lang="en-IN" sz="1200" dirty="0"/>
              <a:t>│      ├── Subscription Plan</a:t>
            </a:r>
          </a:p>
          <a:p>
            <a:r>
              <a:rPr lang="en-IN" sz="1200" dirty="0"/>
              <a:t>│      ├── Subscription Plan Price</a:t>
            </a:r>
          </a:p>
          <a:p>
            <a:r>
              <a:rPr lang="en-IN" sz="1200" dirty="0"/>
              <a:t>│      ├── Subscription</a:t>
            </a:r>
          </a:p>
          <a:p>
            <a:r>
              <a:rPr lang="en-IN" sz="1200" dirty="0"/>
              <a:t>│      ├── Subscription Add-on</a:t>
            </a:r>
          </a:p>
          <a:p>
            <a:r>
              <a:rPr lang="en-IN" sz="1200" dirty="0"/>
              <a:t>│      ├── Subscription Limit</a:t>
            </a:r>
          </a:p>
          <a:p>
            <a:r>
              <a:rPr lang="en-IN" sz="1200" dirty="0"/>
              <a:t>│      ├── Subscription Renewal</a:t>
            </a:r>
          </a:p>
          <a:p>
            <a:r>
              <a:rPr lang="en-IN" sz="1200" dirty="0"/>
              <a:t>│      ├── Subscription Change</a:t>
            </a:r>
          </a:p>
          <a:p>
            <a:r>
              <a:rPr lang="en-IN" sz="1200" dirty="0"/>
              <a:t>│      ├── Subscription Payment</a:t>
            </a:r>
          </a:p>
          <a:p>
            <a:r>
              <a:rPr lang="en-IN" sz="1200" dirty="0"/>
              <a:t>│      └── Subscription </a:t>
            </a:r>
            <a:r>
              <a:rPr lang="en-IN" sz="1200" dirty="0" smtClean="0"/>
              <a:t>Audit</a:t>
            </a:r>
            <a:endParaRPr lang="en-IN" sz="1200" dirty="0"/>
          </a:p>
        </p:txBody>
      </p:sp>
      <p:sp>
        <p:nvSpPr>
          <p:cNvPr id="8" name="Rectangle 7"/>
          <p:cNvSpPr/>
          <p:nvPr/>
        </p:nvSpPr>
        <p:spPr>
          <a:xfrm>
            <a:off x="8355362" y="2004625"/>
            <a:ext cx="274884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/>
              <a:t>└── PF-004 ORGANIZATION MANAGEMENT</a:t>
            </a:r>
          </a:p>
          <a:p>
            <a:r>
              <a:rPr lang="en-IN" sz="1200" dirty="0"/>
              <a:t>       │</a:t>
            </a:r>
          </a:p>
          <a:p>
            <a:r>
              <a:rPr lang="en-IN" sz="1200" dirty="0"/>
              <a:t>       ├── Organization</a:t>
            </a:r>
          </a:p>
          <a:p>
            <a:r>
              <a:rPr lang="en-IN" sz="1200" dirty="0"/>
              <a:t>       ├── Organization Type</a:t>
            </a:r>
          </a:p>
          <a:p>
            <a:r>
              <a:rPr lang="en-IN" sz="1200" dirty="0"/>
              <a:t>       ├── Organization Address</a:t>
            </a:r>
          </a:p>
          <a:p>
            <a:r>
              <a:rPr lang="en-IN" sz="1200" dirty="0"/>
              <a:t>       ├── Organization Contact</a:t>
            </a:r>
          </a:p>
          <a:p>
            <a:r>
              <a:rPr lang="en-IN" sz="1200" dirty="0"/>
              <a:t>       ├── Organization User*</a:t>
            </a:r>
          </a:p>
          <a:p>
            <a:r>
              <a:rPr lang="en-IN" sz="1200" dirty="0"/>
              <a:t>       ├── Organization Settings</a:t>
            </a:r>
          </a:p>
          <a:p>
            <a:r>
              <a:rPr lang="en-IN" sz="1200" dirty="0"/>
              <a:t>       └── Organization Audit</a:t>
            </a:r>
          </a:p>
        </p:txBody>
      </p:sp>
    </p:spTree>
    <p:extLst>
      <p:ext uri="{BB962C8B-B14F-4D97-AF65-F5344CB8AC3E}">
        <p14:creationId xmlns:p14="http://schemas.microsoft.com/office/powerpoint/2010/main" val="24174288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Demonstration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A practical sequence for developing the CRM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25880"/>
            <a:ext cx="1554480" cy="530352"/>
          </a:xfrm>
          <a:prstGeom prst="roundRect">
            <a:avLst/>
          </a:prstGeom>
          <a:noFill/>
          <a:ln w="0"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chemeClr val="dk1"/>
                </a:solidFill>
              </a:rPr>
              <a:t>Phase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325880"/>
            <a:ext cx="7132320" cy="530352"/>
          </a:xfrm>
          <a:prstGeom prst="roundRect">
            <a:avLst/>
          </a:prstGeom>
          <a:noFill/>
          <a:ln w="0"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chemeClr val="dk1"/>
                </a:solidFill>
              </a:rPr>
              <a:t>Platform Foundation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75688"/>
            <a:ext cx="1554480" cy="530352"/>
          </a:xfrm>
          <a:prstGeom prst="roundRect">
            <a:avLst/>
          </a:prstGeom>
          <a:noFill/>
          <a:ln w="0"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chemeClr val="dk1"/>
                </a:solidFill>
              </a:rPr>
              <a:t>Phase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075688"/>
            <a:ext cx="7132320" cy="530352"/>
          </a:xfrm>
          <a:prstGeom prst="roundRect">
            <a:avLst/>
          </a:prstGeom>
          <a:noFill/>
          <a:ln w="0"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chemeClr val="dk1"/>
                </a:solidFill>
              </a:rPr>
              <a:t>Identity &amp; Access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825496"/>
            <a:ext cx="1554480" cy="530352"/>
          </a:xfrm>
          <a:prstGeom prst="roundRect">
            <a:avLst/>
          </a:prstGeom>
          <a:noFill/>
          <a:ln w="0"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chemeClr val="dk1"/>
                </a:solidFill>
              </a:rPr>
              <a:t>Phase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825496"/>
            <a:ext cx="7132320" cy="530352"/>
          </a:xfrm>
          <a:prstGeom prst="roundRect">
            <a:avLst/>
          </a:prstGeom>
          <a:noFill/>
          <a:ln w="0"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chemeClr val="dk1"/>
                </a:solidFill>
              </a:rPr>
              <a:t>Customer &amp; Contact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575304"/>
            <a:ext cx="1554480" cy="530352"/>
          </a:xfrm>
          <a:prstGeom prst="roundRect">
            <a:avLst/>
          </a:prstGeom>
          <a:noFill/>
          <a:ln w="0"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chemeClr val="dk1"/>
                </a:solidFill>
              </a:rPr>
              <a:t>Phase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3575304"/>
            <a:ext cx="7132320" cy="530352"/>
          </a:xfrm>
          <a:prstGeom prst="roundRect">
            <a:avLst/>
          </a:prstGeom>
          <a:noFill/>
          <a:ln w="0"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chemeClr val="dk1"/>
                </a:solidFill>
              </a:rPr>
              <a:t>Lead &amp; Opportunity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325112"/>
            <a:ext cx="1554480" cy="530352"/>
          </a:xfrm>
          <a:prstGeom prst="roundRect">
            <a:avLst/>
          </a:prstGeom>
          <a:noFill/>
          <a:ln w="0"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chemeClr val="dk1"/>
                </a:solidFill>
              </a:rPr>
              <a:t>Phase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4325112"/>
            <a:ext cx="7132320" cy="530352"/>
          </a:xfrm>
          <a:prstGeom prst="roundRect">
            <a:avLst/>
          </a:prstGeom>
          <a:noFill/>
          <a:ln w="0"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chemeClr val="dk1"/>
                </a:solidFill>
              </a:rPr>
              <a:t>Activities &amp; Sales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074920"/>
            <a:ext cx="1554480" cy="530352"/>
          </a:xfrm>
          <a:prstGeom prst="roundRect">
            <a:avLst/>
          </a:prstGeom>
          <a:noFill/>
          <a:ln w="0"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chemeClr val="dk1"/>
                </a:solidFill>
              </a:rPr>
              <a:t>Phase 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5074920"/>
            <a:ext cx="7132320" cy="530352"/>
          </a:xfrm>
          <a:prstGeom prst="roundRect">
            <a:avLst/>
          </a:prstGeom>
          <a:noFill/>
          <a:ln w="0"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chemeClr val="dk1"/>
                </a:solidFill>
              </a:rPr>
              <a:t>Reports &amp; Enterprise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25880"/>
            <a:ext cx="2286000" cy="530352"/>
          </a:xfrm>
          <a:prstGeom prst="roundRect">
            <a:avLst/>
          </a:prstGeom>
          <a:noFill/>
          <a:ln w="0"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Frontend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325880"/>
            <a:ext cx="5303520" cy="530352"/>
          </a:xfrm>
          <a:prstGeom prst="roundRect">
            <a:avLst/>
          </a:prstGeom>
          <a:noFill/>
          <a:ln w="0"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Flutter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75688"/>
            <a:ext cx="2286000" cy="530352"/>
          </a:xfrm>
          <a:prstGeom prst="roundRect">
            <a:avLst/>
          </a:prstGeom>
          <a:noFill/>
          <a:ln w="0"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Backend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2075688"/>
            <a:ext cx="5303520" cy="530352"/>
          </a:xfrm>
          <a:prstGeom prst="roundRect">
            <a:avLst/>
          </a:prstGeom>
          <a:noFill/>
          <a:ln w="0"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Python + FastAPI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825496"/>
            <a:ext cx="2286000" cy="530352"/>
          </a:xfrm>
          <a:prstGeom prst="roundRect">
            <a:avLst/>
          </a:prstGeom>
          <a:noFill/>
          <a:ln w="0"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ORM / Migration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825496"/>
            <a:ext cx="5303520" cy="530352"/>
          </a:xfrm>
          <a:prstGeom prst="roundRect">
            <a:avLst/>
          </a:prstGeom>
          <a:noFill/>
          <a:ln w="0"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SQLAlchemy + Alembic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575304"/>
            <a:ext cx="2286000" cy="530352"/>
          </a:xfrm>
          <a:prstGeom prst="roundRect">
            <a:avLst/>
          </a:prstGeom>
          <a:noFill/>
          <a:ln w="0"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Database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3575304"/>
            <a:ext cx="5303520" cy="530352"/>
          </a:xfrm>
          <a:prstGeom prst="roundRect">
            <a:avLst/>
          </a:prstGeom>
          <a:noFill/>
          <a:ln w="0"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PostgreSQL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325112"/>
            <a:ext cx="2286000" cy="530352"/>
          </a:xfrm>
          <a:prstGeom prst="roundRect">
            <a:avLst/>
          </a:prstGeom>
          <a:noFill/>
          <a:ln w="0"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Development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4325112"/>
            <a:ext cx="5303520" cy="530352"/>
          </a:xfrm>
          <a:prstGeom prst="roundRect">
            <a:avLst/>
          </a:prstGeom>
          <a:noFill/>
          <a:ln w="0"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VS Code / Cursor / Git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074920"/>
            <a:ext cx="2286000" cy="530352"/>
          </a:xfrm>
          <a:prstGeom prst="roundRect">
            <a:avLst/>
          </a:prstGeom>
          <a:noFill/>
          <a:ln w="0"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Mobile Toolchain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5074920"/>
            <a:ext cx="5303520" cy="530352"/>
          </a:xfrm>
          <a:prstGeom prst="roundRect">
            <a:avLst/>
          </a:prstGeom>
          <a:noFill/>
          <a:ln w="0"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Android Studio + Flutter SDK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3100</TotalTime>
  <Words>1598</Words>
  <Application>Microsoft Office PowerPoint</Application>
  <PresentationFormat>Widescreen</PresentationFormat>
  <Paragraphs>749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Calibri</vt:lpstr>
      <vt:lpstr>poppins-extralight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41</cp:revision>
  <dcterms:created xsi:type="dcterms:W3CDTF">2013-01-27T09:14:16Z</dcterms:created>
  <dcterms:modified xsi:type="dcterms:W3CDTF">2026-08-12T16:11:20Z</dcterms:modified>
  <cp:category/>
</cp:coreProperties>
</file>